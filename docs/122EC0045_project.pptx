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28"/>
  </p:notesMasterIdLst>
  <p:sldIdLst>
    <p:sldId id="256" r:id="rId4"/>
    <p:sldId id="258" r:id="rId5"/>
    <p:sldId id="260" r:id="rId6"/>
    <p:sldId id="263" r:id="rId7"/>
    <p:sldId id="304" r:id="rId8"/>
    <p:sldId id="312" r:id="rId9"/>
    <p:sldId id="266" r:id="rId10"/>
    <p:sldId id="267" r:id="rId11"/>
    <p:sldId id="269" r:id="rId12"/>
    <p:sldId id="283" r:id="rId13"/>
    <p:sldId id="284" r:id="rId14"/>
    <p:sldId id="313" r:id="rId15"/>
    <p:sldId id="301" r:id="rId16"/>
    <p:sldId id="303" r:id="rId17"/>
    <p:sldId id="306" r:id="rId18"/>
    <p:sldId id="307" r:id="rId19"/>
    <p:sldId id="308" r:id="rId20"/>
    <p:sldId id="309" r:id="rId21"/>
    <p:sldId id="310" r:id="rId22"/>
    <p:sldId id="311" r:id="rId23"/>
    <p:sldId id="282" r:id="rId24"/>
    <p:sldId id="275" r:id="rId25"/>
    <p:sldId id="276" r:id="rId26"/>
    <p:sldId id="277" r:id="rId2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IN" sz="4400" b="0" strike="noStrike" spc="-1">
                <a:latin typeface="Arial" panose="020B0604020202020204"/>
              </a:rPr>
              <a:t>Click to move the slide</a:t>
            </a:r>
          </a:p>
        </p:txBody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IN" sz="2000" b="0" strike="noStrike" spc="-1">
                <a:latin typeface="Arial" panose="020B0604020202020204"/>
              </a:rPr>
              <a:t>Click to edit the notes format</a:t>
            </a:r>
          </a:p>
        </p:txBody>
      </p:sp>
      <p:sp>
        <p:nvSpPr>
          <p:cNvPr id="3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IN" sz="1400" b="0" strike="noStrike" spc="-1">
                <a:latin typeface="Times New Roman" panose="02020603050405020304"/>
              </a:rPr>
              <a:t>&lt;header&gt;</a:t>
            </a:r>
          </a:p>
        </p:txBody>
      </p:sp>
      <p:sp>
        <p:nvSpPr>
          <p:cNvPr id="326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IN" sz="1400" b="0" strike="noStrike" spc="-1">
                <a:latin typeface="Times New Roman" panose="02020603050405020304"/>
              </a:rPr>
              <a:t>&lt;date/time&gt;</a:t>
            </a:r>
          </a:p>
        </p:txBody>
      </p:sp>
      <p:sp>
        <p:nvSpPr>
          <p:cNvPr id="327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IN" sz="1400" b="0" strike="noStrike" spc="-1">
                <a:latin typeface="Times New Roman" panose="02020603050405020304"/>
              </a:rPr>
              <a:t>&lt;footer&gt;</a:t>
            </a:r>
          </a:p>
        </p:txBody>
      </p:sp>
      <p:sp>
        <p:nvSpPr>
          <p:cNvPr id="328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F64702B4-8DAF-4B31-BBFD-F8F8A6F9A026}" type="slidenum">
              <a:rPr lang="en-IN" sz="1400" b="0" strike="noStrike" spc="-1">
                <a:latin typeface="Times New Roman" panose="02020603050405020304"/>
              </a:rPr>
              <a:t>‹#›</a:t>
            </a:fld>
            <a:endParaRPr lang="en-IN" sz="14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ubTitle"/>
          </p:nvPr>
        </p:nvSpPr>
        <p:spPr>
          <a:xfrm>
            <a:off x="1295280" y="1981080"/>
            <a:ext cx="2230560" cy="3809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223056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295280" y="504000"/>
            <a:ext cx="9600480" cy="52927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body"/>
          </p:nvPr>
        </p:nvSpPr>
        <p:spPr>
          <a:xfrm>
            <a:off x="1295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2438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body"/>
          </p:nvPr>
        </p:nvSpPr>
        <p:spPr>
          <a:xfrm>
            <a:off x="1295280" y="3971160"/>
            <a:ext cx="223056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223056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1295280" y="3971160"/>
            <a:ext cx="223056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1295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body"/>
          </p:nvPr>
        </p:nvSpPr>
        <p:spPr>
          <a:xfrm>
            <a:off x="2438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2049480" y="198108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body"/>
          </p:nvPr>
        </p:nvSpPr>
        <p:spPr>
          <a:xfrm>
            <a:off x="2803680" y="198108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 type="body"/>
          </p:nvPr>
        </p:nvSpPr>
        <p:spPr>
          <a:xfrm>
            <a:off x="1295280" y="397116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40" name="PlaceHolder 6"/>
          <p:cNvSpPr>
            <a:spLocks noGrp="1"/>
          </p:cNvSpPr>
          <p:nvPr>
            <p:ph type="body"/>
          </p:nvPr>
        </p:nvSpPr>
        <p:spPr>
          <a:xfrm>
            <a:off x="2049480" y="397116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141" name="PlaceHolder 7"/>
          <p:cNvSpPr>
            <a:spLocks noGrp="1"/>
          </p:cNvSpPr>
          <p:nvPr>
            <p:ph type="body"/>
          </p:nvPr>
        </p:nvSpPr>
        <p:spPr>
          <a:xfrm>
            <a:off x="2803680" y="397116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subTitle"/>
          </p:nvPr>
        </p:nvSpPr>
        <p:spPr>
          <a:xfrm>
            <a:off x="1295280" y="1981080"/>
            <a:ext cx="2230560" cy="3809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223056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ubTitle"/>
          </p:nvPr>
        </p:nvSpPr>
        <p:spPr>
          <a:xfrm>
            <a:off x="1295280" y="504000"/>
            <a:ext cx="9600480" cy="52927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1295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2438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 type="body"/>
          </p:nvPr>
        </p:nvSpPr>
        <p:spPr>
          <a:xfrm>
            <a:off x="1295280" y="3971160"/>
            <a:ext cx="223056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223056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body"/>
          </p:nvPr>
        </p:nvSpPr>
        <p:spPr>
          <a:xfrm>
            <a:off x="1295280" y="3971160"/>
            <a:ext cx="223056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 type="body"/>
          </p:nvPr>
        </p:nvSpPr>
        <p:spPr>
          <a:xfrm>
            <a:off x="1295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 type="body"/>
          </p:nvPr>
        </p:nvSpPr>
        <p:spPr>
          <a:xfrm>
            <a:off x="2438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2049480" y="198108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 type="body"/>
          </p:nvPr>
        </p:nvSpPr>
        <p:spPr>
          <a:xfrm>
            <a:off x="2803680" y="198108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29" name="PlaceHolder 5"/>
          <p:cNvSpPr>
            <a:spLocks noGrp="1"/>
          </p:cNvSpPr>
          <p:nvPr>
            <p:ph type="body"/>
          </p:nvPr>
        </p:nvSpPr>
        <p:spPr>
          <a:xfrm>
            <a:off x="1295280" y="397116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30" name="PlaceHolder 6"/>
          <p:cNvSpPr>
            <a:spLocks noGrp="1"/>
          </p:cNvSpPr>
          <p:nvPr>
            <p:ph type="body"/>
          </p:nvPr>
        </p:nvSpPr>
        <p:spPr>
          <a:xfrm>
            <a:off x="2049480" y="397116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31" name="PlaceHolder 7"/>
          <p:cNvSpPr>
            <a:spLocks noGrp="1"/>
          </p:cNvSpPr>
          <p:nvPr>
            <p:ph type="body"/>
          </p:nvPr>
        </p:nvSpPr>
        <p:spPr>
          <a:xfrm>
            <a:off x="2803680" y="397116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subTitle"/>
          </p:nvPr>
        </p:nvSpPr>
        <p:spPr>
          <a:xfrm>
            <a:off x="1295280" y="1981080"/>
            <a:ext cx="2230560" cy="3809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223056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ubTitle"/>
          </p:nvPr>
        </p:nvSpPr>
        <p:spPr>
          <a:xfrm>
            <a:off x="1295280" y="504000"/>
            <a:ext cx="9600480" cy="52927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299" name="PlaceHolder 4"/>
          <p:cNvSpPr>
            <a:spLocks noGrp="1"/>
          </p:cNvSpPr>
          <p:nvPr>
            <p:ph type="body"/>
          </p:nvPr>
        </p:nvSpPr>
        <p:spPr>
          <a:xfrm>
            <a:off x="1295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03" name="PlaceHolder 4"/>
          <p:cNvSpPr>
            <a:spLocks noGrp="1"/>
          </p:cNvSpPr>
          <p:nvPr>
            <p:ph type="body"/>
          </p:nvPr>
        </p:nvSpPr>
        <p:spPr>
          <a:xfrm>
            <a:off x="2438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07" name="PlaceHolder 4"/>
          <p:cNvSpPr>
            <a:spLocks noGrp="1"/>
          </p:cNvSpPr>
          <p:nvPr>
            <p:ph type="body"/>
          </p:nvPr>
        </p:nvSpPr>
        <p:spPr>
          <a:xfrm>
            <a:off x="1295280" y="3971160"/>
            <a:ext cx="223056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223056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body"/>
          </p:nvPr>
        </p:nvSpPr>
        <p:spPr>
          <a:xfrm>
            <a:off x="1295280" y="3971160"/>
            <a:ext cx="223056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body"/>
          </p:nvPr>
        </p:nvSpPr>
        <p:spPr>
          <a:xfrm>
            <a:off x="2438280" y="198108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 type="body"/>
          </p:nvPr>
        </p:nvSpPr>
        <p:spPr>
          <a:xfrm>
            <a:off x="1295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15" name="PlaceHolder 5"/>
          <p:cNvSpPr>
            <a:spLocks noGrp="1"/>
          </p:cNvSpPr>
          <p:nvPr>
            <p:ph type="body"/>
          </p:nvPr>
        </p:nvSpPr>
        <p:spPr>
          <a:xfrm>
            <a:off x="2438280" y="3971160"/>
            <a:ext cx="108828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4400" b="0" strike="noStrike" spc="-1">
              <a:latin typeface="Arial" panose="020B0604020202020204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body"/>
          </p:nvPr>
        </p:nvSpPr>
        <p:spPr>
          <a:xfrm>
            <a:off x="2049480" y="198108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 type="body"/>
          </p:nvPr>
        </p:nvSpPr>
        <p:spPr>
          <a:xfrm>
            <a:off x="2803680" y="198108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20" name="PlaceHolder 5"/>
          <p:cNvSpPr>
            <a:spLocks noGrp="1"/>
          </p:cNvSpPr>
          <p:nvPr>
            <p:ph type="body"/>
          </p:nvPr>
        </p:nvSpPr>
        <p:spPr>
          <a:xfrm>
            <a:off x="1295280" y="397116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21" name="PlaceHolder 6"/>
          <p:cNvSpPr>
            <a:spLocks noGrp="1"/>
          </p:cNvSpPr>
          <p:nvPr>
            <p:ph type="body"/>
          </p:nvPr>
        </p:nvSpPr>
        <p:spPr>
          <a:xfrm>
            <a:off x="2049480" y="397116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22" name="PlaceHolder 7"/>
          <p:cNvSpPr>
            <a:spLocks noGrp="1"/>
          </p:cNvSpPr>
          <p:nvPr>
            <p:ph type="body"/>
          </p:nvPr>
        </p:nvSpPr>
        <p:spPr>
          <a:xfrm>
            <a:off x="2803680" y="3971160"/>
            <a:ext cx="717840" cy="181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1"/>
          <p:cNvGrpSpPr/>
          <p:nvPr/>
        </p:nvGrpSpPr>
        <p:grpSpPr>
          <a:xfrm>
            <a:off x="0" y="-195840"/>
            <a:ext cx="12191760" cy="6857640"/>
            <a:chOff x="0" y="-195840"/>
            <a:chExt cx="12191760" cy="6857640"/>
          </a:xfrm>
        </p:grpSpPr>
        <p:sp>
          <p:nvSpPr>
            <p:cNvPr id="2" name="Line 2"/>
            <p:cNvSpPr/>
            <p:nvPr/>
          </p:nvSpPr>
          <p:spPr>
            <a:xfrm>
              <a:off x="60984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3" name="Line 3"/>
            <p:cNvSpPr/>
            <p:nvPr/>
          </p:nvSpPr>
          <p:spPr>
            <a:xfrm>
              <a:off x="182916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4" name="Line 4"/>
            <p:cNvSpPr/>
            <p:nvPr/>
          </p:nvSpPr>
          <p:spPr>
            <a:xfrm>
              <a:off x="304812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5" name="Line 5"/>
            <p:cNvSpPr/>
            <p:nvPr/>
          </p:nvSpPr>
          <p:spPr>
            <a:xfrm>
              <a:off x="426744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6" name="Line 6"/>
            <p:cNvSpPr/>
            <p:nvPr/>
          </p:nvSpPr>
          <p:spPr>
            <a:xfrm>
              <a:off x="548640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Line 7"/>
            <p:cNvSpPr/>
            <p:nvPr/>
          </p:nvSpPr>
          <p:spPr>
            <a:xfrm>
              <a:off x="670572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Line 8"/>
            <p:cNvSpPr/>
            <p:nvPr/>
          </p:nvSpPr>
          <p:spPr>
            <a:xfrm>
              <a:off x="792468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Line 9"/>
            <p:cNvSpPr/>
            <p:nvPr/>
          </p:nvSpPr>
          <p:spPr>
            <a:xfrm>
              <a:off x="914400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Line 10"/>
            <p:cNvSpPr/>
            <p:nvPr/>
          </p:nvSpPr>
          <p:spPr>
            <a:xfrm>
              <a:off x="1036296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Line 11"/>
            <p:cNvSpPr/>
            <p:nvPr/>
          </p:nvSpPr>
          <p:spPr>
            <a:xfrm>
              <a:off x="1158228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Line 12"/>
            <p:cNvSpPr/>
            <p:nvPr/>
          </p:nvSpPr>
          <p:spPr>
            <a:xfrm>
              <a:off x="2520" y="19044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Line 13"/>
            <p:cNvSpPr/>
            <p:nvPr/>
          </p:nvSpPr>
          <p:spPr>
            <a:xfrm>
              <a:off x="2520" y="141516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Line 14"/>
            <p:cNvSpPr/>
            <p:nvPr/>
          </p:nvSpPr>
          <p:spPr>
            <a:xfrm>
              <a:off x="2520" y="263988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Line 15"/>
            <p:cNvSpPr/>
            <p:nvPr/>
          </p:nvSpPr>
          <p:spPr>
            <a:xfrm>
              <a:off x="2520" y="386460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Line 16"/>
            <p:cNvSpPr/>
            <p:nvPr/>
          </p:nvSpPr>
          <p:spPr>
            <a:xfrm>
              <a:off x="2520" y="508932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Line 17"/>
            <p:cNvSpPr/>
            <p:nvPr/>
          </p:nvSpPr>
          <p:spPr>
            <a:xfrm>
              <a:off x="2520" y="631368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0" y="-195840"/>
              <a:ext cx="12191760" cy="6857640"/>
              <a:chOff x="0" y="-195840"/>
              <a:chExt cx="12191760" cy="6857640"/>
            </a:xfrm>
          </p:grpSpPr>
          <p:sp>
            <p:nvSpPr>
              <p:cNvPr id="19" name="Line 19"/>
              <p:cNvSpPr/>
              <p:nvPr/>
            </p:nvSpPr>
            <p:spPr>
              <a:xfrm>
                <a:off x="22536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144900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266580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3884760" y="-195840"/>
                <a:ext cx="681624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510624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4" name="Group 24"/>
              <p:cNvGrpSpPr/>
              <p:nvPr/>
            </p:nvGrpSpPr>
            <p:grpSpPr>
              <a:xfrm>
                <a:off x="6327720" y="-195840"/>
                <a:ext cx="5864040" cy="5898240"/>
                <a:chOff x="6327720" y="-195840"/>
                <a:chExt cx="5864040" cy="5898240"/>
              </a:xfrm>
            </p:grpSpPr>
            <p:sp>
              <p:nvSpPr>
                <p:cNvPr id="25" name="Line 25"/>
                <p:cNvSpPr/>
                <p:nvPr/>
              </p:nvSpPr>
              <p:spPr>
                <a:xfrm>
                  <a:off x="6327720" y="-195840"/>
                  <a:ext cx="5864040" cy="5898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" name="Line 26"/>
                <p:cNvSpPr/>
                <p:nvPr/>
              </p:nvSpPr>
              <p:spPr>
                <a:xfrm>
                  <a:off x="7549200" y="-195840"/>
                  <a:ext cx="4642560" cy="467208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7" name="Line 27"/>
                <p:cNvSpPr/>
                <p:nvPr/>
              </p:nvSpPr>
              <p:spPr>
                <a:xfrm>
                  <a:off x="8772840" y="-195840"/>
                  <a:ext cx="3418920" cy="345636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8" name="Line 28"/>
                <p:cNvSpPr/>
                <p:nvPr/>
              </p:nvSpPr>
              <p:spPr>
                <a:xfrm>
                  <a:off x="9982080" y="-195840"/>
                  <a:ext cx="2209680" cy="2226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9" name="Line 29"/>
                <p:cNvSpPr/>
                <p:nvPr/>
              </p:nvSpPr>
              <p:spPr>
                <a:xfrm>
                  <a:off x="11198880" y="-195840"/>
                  <a:ext cx="992880" cy="1002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30" name="Line 30"/>
              <p:cNvSpPr/>
              <p:nvPr/>
            </p:nvSpPr>
            <p:spPr>
              <a:xfrm flipH="1" flipV="1">
                <a:off x="0" y="815760"/>
                <a:ext cx="5828760" cy="58460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Line 31"/>
              <p:cNvSpPr/>
              <p:nvPr/>
            </p:nvSpPr>
            <p:spPr>
              <a:xfrm flipH="1" flipV="1">
                <a:off x="0" y="2031120"/>
                <a:ext cx="4614480" cy="463068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32"/>
              <p:cNvSpPr/>
              <p:nvPr/>
            </p:nvSpPr>
            <p:spPr>
              <a:xfrm flipH="1" flipV="1">
                <a:off x="0" y="3236040"/>
                <a:ext cx="3398400" cy="342576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Line 33"/>
              <p:cNvSpPr/>
              <p:nvPr/>
            </p:nvSpPr>
            <p:spPr>
              <a:xfrm flipH="1" flipV="1">
                <a:off x="0" y="4455360"/>
                <a:ext cx="2196360" cy="22064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Line 34"/>
              <p:cNvSpPr/>
              <p:nvPr/>
            </p:nvSpPr>
            <p:spPr>
              <a:xfrm flipH="1" flipV="1">
                <a:off x="0" y="5668200"/>
                <a:ext cx="986760" cy="9936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-195840"/>
              <a:ext cx="12191760" cy="6857640"/>
              <a:chOff x="0" y="-195840"/>
              <a:chExt cx="12191760" cy="6857640"/>
            </a:xfrm>
          </p:grpSpPr>
          <p:sp>
            <p:nvSpPr>
              <p:cNvPr id="36" name="Line 36"/>
              <p:cNvSpPr/>
              <p:nvPr/>
            </p:nvSpPr>
            <p:spPr>
              <a:xfrm flipH="1">
                <a:off x="515052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Line 37"/>
              <p:cNvSpPr/>
              <p:nvPr/>
            </p:nvSpPr>
            <p:spPr>
              <a:xfrm flipH="1">
                <a:off x="392688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Line 38"/>
              <p:cNvSpPr/>
              <p:nvPr/>
            </p:nvSpPr>
            <p:spPr>
              <a:xfrm flipH="1">
                <a:off x="271008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Line 39"/>
              <p:cNvSpPr/>
              <p:nvPr/>
            </p:nvSpPr>
            <p:spPr>
              <a:xfrm flipH="1">
                <a:off x="149076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Line 40"/>
              <p:cNvSpPr/>
              <p:nvPr/>
            </p:nvSpPr>
            <p:spPr>
              <a:xfrm flipH="1">
                <a:off x="26928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41" name="Group 41"/>
              <p:cNvGrpSpPr/>
              <p:nvPr/>
            </p:nvGrpSpPr>
            <p:grpSpPr>
              <a:xfrm>
                <a:off x="0" y="-195840"/>
                <a:ext cx="5864040" cy="5898240"/>
                <a:chOff x="0" y="-195840"/>
                <a:chExt cx="5864040" cy="5898240"/>
              </a:xfrm>
            </p:grpSpPr>
            <p:sp>
              <p:nvSpPr>
                <p:cNvPr id="42" name="Line 42"/>
                <p:cNvSpPr/>
                <p:nvPr/>
              </p:nvSpPr>
              <p:spPr>
                <a:xfrm flipH="1">
                  <a:off x="0" y="-195840"/>
                  <a:ext cx="5864040" cy="5898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3" name="Line 43"/>
                <p:cNvSpPr/>
                <p:nvPr/>
              </p:nvSpPr>
              <p:spPr>
                <a:xfrm flipH="1">
                  <a:off x="0" y="-195840"/>
                  <a:ext cx="4642560" cy="467208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4" name="Line 44"/>
                <p:cNvSpPr/>
                <p:nvPr/>
              </p:nvSpPr>
              <p:spPr>
                <a:xfrm flipH="1">
                  <a:off x="0" y="-195840"/>
                  <a:ext cx="3418920" cy="345636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5" name="Line 45"/>
                <p:cNvSpPr/>
                <p:nvPr/>
              </p:nvSpPr>
              <p:spPr>
                <a:xfrm flipH="1">
                  <a:off x="0" y="-195840"/>
                  <a:ext cx="2209680" cy="2226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6" name="Line 46"/>
                <p:cNvSpPr/>
                <p:nvPr/>
              </p:nvSpPr>
              <p:spPr>
                <a:xfrm flipH="1">
                  <a:off x="0" y="-195840"/>
                  <a:ext cx="992880" cy="1002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47" name="Line 47"/>
              <p:cNvSpPr/>
              <p:nvPr/>
            </p:nvSpPr>
            <p:spPr>
              <a:xfrm flipV="1">
                <a:off x="6363000" y="815760"/>
                <a:ext cx="5828760" cy="58460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48" name="Line 48"/>
              <p:cNvSpPr/>
              <p:nvPr/>
            </p:nvSpPr>
            <p:spPr>
              <a:xfrm flipV="1">
                <a:off x="7576920" y="2031120"/>
                <a:ext cx="4614840" cy="463068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49" name="Line 49"/>
              <p:cNvSpPr/>
              <p:nvPr/>
            </p:nvSpPr>
            <p:spPr>
              <a:xfrm flipV="1">
                <a:off x="8793360" y="3236040"/>
                <a:ext cx="3398400" cy="342576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50" name="Line 50"/>
              <p:cNvSpPr/>
              <p:nvPr/>
            </p:nvSpPr>
            <p:spPr>
              <a:xfrm flipV="1">
                <a:off x="9995400" y="4455360"/>
                <a:ext cx="2196360" cy="22064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51" name="Line 51"/>
              <p:cNvSpPr/>
              <p:nvPr/>
            </p:nvSpPr>
            <p:spPr>
              <a:xfrm flipV="1">
                <a:off x="11204640" y="5668200"/>
                <a:ext cx="987120" cy="9936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52" name="Line 52"/>
          <p:cNvSpPr/>
          <p:nvPr/>
        </p:nvSpPr>
        <p:spPr>
          <a:xfrm>
            <a:off x="609480" y="6172200"/>
            <a:ext cx="10972800" cy="360"/>
          </a:xfrm>
          <a:prstGeom prst="line">
            <a:avLst/>
          </a:prstGeom>
          <a:ln w="12600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grpSp>
        <p:nvGrpSpPr>
          <p:cNvPr id="53" name="Group 53"/>
          <p:cNvGrpSpPr/>
          <p:nvPr/>
        </p:nvGrpSpPr>
        <p:grpSpPr>
          <a:xfrm>
            <a:off x="0" y="0"/>
            <a:ext cx="12191760" cy="6858000"/>
            <a:chOff x="0" y="0"/>
            <a:chExt cx="12191760" cy="6858000"/>
          </a:xfrm>
        </p:grpSpPr>
        <p:sp>
          <p:nvSpPr>
            <p:cNvPr id="54" name="Line 54"/>
            <p:cNvSpPr/>
            <p:nvPr/>
          </p:nvSpPr>
          <p:spPr>
            <a:xfrm>
              <a:off x="609840" y="0"/>
              <a:ext cx="36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55" name="Line 55"/>
            <p:cNvSpPr/>
            <p:nvPr/>
          </p:nvSpPr>
          <p:spPr>
            <a:xfrm>
              <a:off x="1829160" y="0"/>
              <a:ext cx="36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56" name="Line 56"/>
            <p:cNvSpPr/>
            <p:nvPr/>
          </p:nvSpPr>
          <p:spPr>
            <a:xfrm>
              <a:off x="3048120" y="0"/>
              <a:ext cx="36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57" name="Line 57"/>
            <p:cNvSpPr/>
            <p:nvPr/>
          </p:nvSpPr>
          <p:spPr>
            <a:xfrm>
              <a:off x="4267440" y="0"/>
              <a:ext cx="36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58" name="Line 58"/>
            <p:cNvSpPr/>
            <p:nvPr/>
          </p:nvSpPr>
          <p:spPr>
            <a:xfrm>
              <a:off x="5486400" y="0"/>
              <a:ext cx="36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59" name="Line 59"/>
            <p:cNvSpPr/>
            <p:nvPr/>
          </p:nvSpPr>
          <p:spPr>
            <a:xfrm>
              <a:off x="6705720" y="0"/>
              <a:ext cx="36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60" name="Line 60"/>
            <p:cNvSpPr/>
            <p:nvPr/>
          </p:nvSpPr>
          <p:spPr>
            <a:xfrm>
              <a:off x="7924680" y="0"/>
              <a:ext cx="36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61" name="Line 61"/>
            <p:cNvSpPr/>
            <p:nvPr/>
          </p:nvSpPr>
          <p:spPr>
            <a:xfrm>
              <a:off x="9144000" y="0"/>
              <a:ext cx="36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62" name="Line 62"/>
            <p:cNvSpPr/>
            <p:nvPr/>
          </p:nvSpPr>
          <p:spPr>
            <a:xfrm>
              <a:off x="10362960" y="0"/>
              <a:ext cx="36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63" name="Line 63"/>
            <p:cNvSpPr/>
            <p:nvPr/>
          </p:nvSpPr>
          <p:spPr>
            <a:xfrm>
              <a:off x="11582280" y="0"/>
              <a:ext cx="36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64" name="Line 64"/>
            <p:cNvSpPr/>
            <p:nvPr/>
          </p:nvSpPr>
          <p:spPr>
            <a:xfrm>
              <a:off x="2520" y="38628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65" name="Line 65"/>
            <p:cNvSpPr/>
            <p:nvPr/>
          </p:nvSpPr>
          <p:spPr>
            <a:xfrm>
              <a:off x="2520" y="161100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66" name="Line 66"/>
            <p:cNvSpPr/>
            <p:nvPr/>
          </p:nvSpPr>
          <p:spPr>
            <a:xfrm>
              <a:off x="2520" y="283572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67" name="Line 67"/>
            <p:cNvSpPr/>
            <p:nvPr/>
          </p:nvSpPr>
          <p:spPr>
            <a:xfrm>
              <a:off x="2520" y="406044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68" name="Line 68"/>
            <p:cNvSpPr/>
            <p:nvPr/>
          </p:nvSpPr>
          <p:spPr>
            <a:xfrm>
              <a:off x="2520" y="528516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69" name="Line 69"/>
            <p:cNvSpPr/>
            <p:nvPr/>
          </p:nvSpPr>
          <p:spPr>
            <a:xfrm>
              <a:off x="2520" y="650988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grpSp>
          <p:nvGrpSpPr>
            <p:cNvPr id="70" name="Group 70"/>
            <p:cNvGrpSpPr/>
            <p:nvPr/>
          </p:nvGrpSpPr>
          <p:grpSpPr>
            <a:xfrm>
              <a:off x="0" y="0"/>
              <a:ext cx="12191760" cy="6858000"/>
              <a:chOff x="0" y="0"/>
              <a:chExt cx="12191760" cy="6858000"/>
            </a:xfrm>
          </p:grpSpPr>
          <p:sp>
            <p:nvSpPr>
              <p:cNvPr id="71" name="Line 71"/>
              <p:cNvSpPr/>
              <p:nvPr/>
            </p:nvSpPr>
            <p:spPr>
              <a:xfrm>
                <a:off x="225360" y="0"/>
                <a:ext cx="6815880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72" name="Line 72"/>
              <p:cNvSpPr/>
              <p:nvPr/>
            </p:nvSpPr>
            <p:spPr>
              <a:xfrm>
                <a:off x="1449000" y="0"/>
                <a:ext cx="6815880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73" name="Line 73"/>
              <p:cNvSpPr/>
              <p:nvPr/>
            </p:nvSpPr>
            <p:spPr>
              <a:xfrm>
                <a:off x="2665800" y="0"/>
                <a:ext cx="6815880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74" name="Line 74"/>
              <p:cNvSpPr/>
              <p:nvPr/>
            </p:nvSpPr>
            <p:spPr>
              <a:xfrm>
                <a:off x="3884760" y="0"/>
                <a:ext cx="6816240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75" name="Line 75"/>
              <p:cNvSpPr/>
              <p:nvPr/>
            </p:nvSpPr>
            <p:spPr>
              <a:xfrm>
                <a:off x="5106240" y="0"/>
                <a:ext cx="6815880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76" name="Group 76"/>
              <p:cNvGrpSpPr/>
              <p:nvPr/>
            </p:nvGrpSpPr>
            <p:grpSpPr>
              <a:xfrm>
                <a:off x="6327720" y="0"/>
                <a:ext cx="5864040" cy="5898600"/>
                <a:chOff x="6327720" y="0"/>
                <a:chExt cx="5864040" cy="5898600"/>
              </a:xfrm>
            </p:grpSpPr>
            <p:sp>
              <p:nvSpPr>
                <p:cNvPr id="77" name="Line 77"/>
                <p:cNvSpPr/>
                <p:nvPr/>
              </p:nvSpPr>
              <p:spPr>
                <a:xfrm>
                  <a:off x="6327720" y="0"/>
                  <a:ext cx="5864040" cy="589860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78" name="Line 78"/>
                <p:cNvSpPr/>
                <p:nvPr/>
              </p:nvSpPr>
              <p:spPr>
                <a:xfrm>
                  <a:off x="7549200" y="0"/>
                  <a:ext cx="4642560" cy="467208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79" name="Line 79"/>
                <p:cNvSpPr/>
                <p:nvPr/>
              </p:nvSpPr>
              <p:spPr>
                <a:xfrm>
                  <a:off x="8772840" y="0"/>
                  <a:ext cx="3418920" cy="345672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0" name="Line 80"/>
                <p:cNvSpPr/>
                <p:nvPr/>
              </p:nvSpPr>
              <p:spPr>
                <a:xfrm>
                  <a:off x="9982080" y="0"/>
                  <a:ext cx="2209680" cy="2226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1" name="Line 81"/>
                <p:cNvSpPr/>
                <p:nvPr/>
              </p:nvSpPr>
              <p:spPr>
                <a:xfrm>
                  <a:off x="11198880" y="0"/>
                  <a:ext cx="992880" cy="1002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82" name="Line 82"/>
              <p:cNvSpPr/>
              <p:nvPr/>
            </p:nvSpPr>
            <p:spPr>
              <a:xfrm flipH="1" flipV="1">
                <a:off x="0" y="1011960"/>
                <a:ext cx="5828760" cy="584568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83" name="Line 83"/>
              <p:cNvSpPr/>
              <p:nvPr/>
            </p:nvSpPr>
            <p:spPr>
              <a:xfrm flipH="1" flipV="1">
                <a:off x="0" y="2227320"/>
                <a:ext cx="4614480" cy="463032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84" name="Line 84"/>
              <p:cNvSpPr/>
              <p:nvPr/>
            </p:nvSpPr>
            <p:spPr>
              <a:xfrm flipH="1" flipV="1">
                <a:off x="0" y="3431880"/>
                <a:ext cx="3398400" cy="342576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85" name="Line 85"/>
              <p:cNvSpPr/>
              <p:nvPr/>
            </p:nvSpPr>
            <p:spPr>
              <a:xfrm flipH="1" flipV="1">
                <a:off x="0" y="4651200"/>
                <a:ext cx="2196360" cy="22064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86" name="Line 86"/>
              <p:cNvSpPr/>
              <p:nvPr/>
            </p:nvSpPr>
            <p:spPr>
              <a:xfrm flipH="1" flipV="1">
                <a:off x="0" y="5864400"/>
                <a:ext cx="986760" cy="9932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0" y="0"/>
              <a:ext cx="12191760" cy="6857640"/>
              <a:chOff x="0" y="0"/>
              <a:chExt cx="12191760" cy="6857640"/>
            </a:xfrm>
          </p:grpSpPr>
          <p:sp>
            <p:nvSpPr>
              <p:cNvPr id="88" name="Line 88"/>
              <p:cNvSpPr/>
              <p:nvPr/>
            </p:nvSpPr>
            <p:spPr>
              <a:xfrm flipH="1">
                <a:off x="5150520" y="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89" name="Line 89"/>
              <p:cNvSpPr/>
              <p:nvPr/>
            </p:nvSpPr>
            <p:spPr>
              <a:xfrm flipH="1">
                <a:off x="3926880" y="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90" name="Line 90"/>
              <p:cNvSpPr/>
              <p:nvPr/>
            </p:nvSpPr>
            <p:spPr>
              <a:xfrm flipH="1">
                <a:off x="2710080" y="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91" name="Line 91"/>
              <p:cNvSpPr/>
              <p:nvPr/>
            </p:nvSpPr>
            <p:spPr>
              <a:xfrm flipH="1">
                <a:off x="1490760" y="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92" name="Line 92"/>
              <p:cNvSpPr/>
              <p:nvPr/>
            </p:nvSpPr>
            <p:spPr>
              <a:xfrm flipH="1">
                <a:off x="225360" y="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93" name="Group 93"/>
              <p:cNvGrpSpPr/>
              <p:nvPr/>
            </p:nvGrpSpPr>
            <p:grpSpPr>
              <a:xfrm>
                <a:off x="0" y="0"/>
                <a:ext cx="5864040" cy="5898600"/>
                <a:chOff x="0" y="0"/>
                <a:chExt cx="5864040" cy="5898600"/>
              </a:xfrm>
            </p:grpSpPr>
            <p:sp>
              <p:nvSpPr>
                <p:cNvPr id="94" name="Line 94"/>
                <p:cNvSpPr/>
                <p:nvPr/>
              </p:nvSpPr>
              <p:spPr>
                <a:xfrm flipH="1">
                  <a:off x="0" y="0"/>
                  <a:ext cx="5864040" cy="589860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95" name="Line 95"/>
                <p:cNvSpPr/>
                <p:nvPr/>
              </p:nvSpPr>
              <p:spPr>
                <a:xfrm flipH="1">
                  <a:off x="0" y="0"/>
                  <a:ext cx="4642560" cy="467208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96" name="Line 96"/>
                <p:cNvSpPr/>
                <p:nvPr/>
              </p:nvSpPr>
              <p:spPr>
                <a:xfrm flipH="1">
                  <a:off x="0" y="0"/>
                  <a:ext cx="3418920" cy="345672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97" name="Line 97"/>
                <p:cNvSpPr/>
                <p:nvPr/>
              </p:nvSpPr>
              <p:spPr>
                <a:xfrm flipH="1">
                  <a:off x="0" y="0"/>
                  <a:ext cx="2209680" cy="2226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98" name="Line 98"/>
                <p:cNvSpPr/>
                <p:nvPr/>
              </p:nvSpPr>
              <p:spPr>
                <a:xfrm flipH="1">
                  <a:off x="0" y="0"/>
                  <a:ext cx="992880" cy="1002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99" name="Line 99"/>
              <p:cNvSpPr/>
              <p:nvPr/>
            </p:nvSpPr>
            <p:spPr>
              <a:xfrm flipV="1">
                <a:off x="6363000" y="1011960"/>
                <a:ext cx="5828760" cy="584568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00" name="Line 100"/>
              <p:cNvSpPr/>
              <p:nvPr/>
            </p:nvSpPr>
            <p:spPr>
              <a:xfrm flipV="1">
                <a:off x="7576920" y="2227320"/>
                <a:ext cx="4614840" cy="463032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01" name="Line 101"/>
              <p:cNvSpPr/>
              <p:nvPr/>
            </p:nvSpPr>
            <p:spPr>
              <a:xfrm flipV="1">
                <a:off x="8793360" y="3431880"/>
                <a:ext cx="3398400" cy="342576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02" name="Line 102"/>
              <p:cNvSpPr/>
              <p:nvPr/>
            </p:nvSpPr>
            <p:spPr>
              <a:xfrm flipV="1">
                <a:off x="9995400" y="4651200"/>
                <a:ext cx="2196360" cy="22064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03" name="Line 103"/>
              <p:cNvSpPr/>
              <p:nvPr/>
            </p:nvSpPr>
            <p:spPr>
              <a:xfrm flipV="1">
                <a:off x="11204640" y="5864400"/>
                <a:ext cx="987120" cy="9932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104" name="Line 104"/>
          <p:cNvSpPr/>
          <p:nvPr/>
        </p:nvSpPr>
        <p:spPr>
          <a:xfrm>
            <a:off x="1295280" y="5294160"/>
            <a:ext cx="9601200" cy="360"/>
          </a:xfrm>
          <a:prstGeom prst="line">
            <a:avLst/>
          </a:prstGeom>
          <a:ln w="12600">
            <a:solidFill>
              <a:srgbClr val="D05638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5" name="PlaceHolder 105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IN" sz="1800" b="0" strike="noStrike" spc="-1"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106" name="PlaceHolder 106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3200" b="0" strike="noStrike" spc="-1"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2800" b="0" strike="noStrike" spc="-1"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400" b="0" strike="noStrike" spc="-1"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2000" b="0" strike="noStrike" spc="-1"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roup 1"/>
          <p:cNvGrpSpPr/>
          <p:nvPr/>
        </p:nvGrpSpPr>
        <p:grpSpPr>
          <a:xfrm>
            <a:off x="0" y="-195840"/>
            <a:ext cx="12191760" cy="6857640"/>
            <a:chOff x="0" y="-195840"/>
            <a:chExt cx="12191760" cy="6857640"/>
          </a:xfrm>
        </p:grpSpPr>
        <p:sp>
          <p:nvSpPr>
            <p:cNvPr id="143" name="Line 2"/>
            <p:cNvSpPr/>
            <p:nvPr/>
          </p:nvSpPr>
          <p:spPr>
            <a:xfrm>
              <a:off x="60984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44" name="Line 3"/>
            <p:cNvSpPr/>
            <p:nvPr/>
          </p:nvSpPr>
          <p:spPr>
            <a:xfrm>
              <a:off x="182916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45" name="Line 4"/>
            <p:cNvSpPr/>
            <p:nvPr/>
          </p:nvSpPr>
          <p:spPr>
            <a:xfrm>
              <a:off x="304812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46" name="Line 5"/>
            <p:cNvSpPr/>
            <p:nvPr/>
          </p:nvSpPr>
          <p:spPr>
            <a:xfrm>
              <a:off x="426744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47" name="Line 6"/>
            <p:cNvSpPr/>
            <p:nvPr/>
          </p:nvSpPr>
          <p:spPr>
            <a:xfrm>
              <a:off x="548640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48" name="Line 7"/>
            <p:cNvSpPr/>
            <p:nvPr/>
          </p:nvSpPr>
          <p:spPr>
            <a:xfrm>
              <a:off x="670572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49" name="Line 8"/>
            <p:cNvSpPr/>
            <p:nvPr/>
          </p:nvSpPr>
          <p:spPr>
            <a:xfrm>
              <a:off x="792468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50" name="Line 9"/>
            <p:cNvSpPr/>
            <p:nvPr/>
          </p:nvSpPr>
          <p:spPr>
            <a:xfrm>
              <a:off x="914400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51" name="Line 10"/>
            <p:cNvSpPr/>
            <p:nvPr/>
          </p:nvSpPr>
          <p:spPr>
            <a:xfrm>
              <a:off x="1036296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52" name="Line 11"/>
            <p:cNvSpPr/>
            <p:nvPr/>
          </p:nvSpPr>
          <p:spPr>
            <a:xfrm>
              <a:off x="1158228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53" name="Line 12"/>
            <p:cNvSpPr/>
            <p:nvPr/>
          </p:nvSpPr>
          <p:spPr>
            <a:xfrm>
              <a:off x="2520" y="19044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54" name="Line 13"/>
            <p:cNvSpPr/>
            <p:nvPr/>
          </p:nvSpPr>
          <p:spPr>
            <a:xfrm>
              <a:off x="2520" y="141516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55" name="Line 14"/>
            <p:cNvSpPr/>
            <p:nvPr/>
          </p:nvSpPr>
          <p:spPr>
            <a:xfrm>
              <a:off x="2520" y="263988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56" name="Line 15"/>
            <p:cNvSpPr/>
            <p:nvPr/>
          </p:nvSpPr>
          <p:spPr>
            <a:xfrm>
              <a:off x="2520" y="386460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57" name="Line 16"/>
            <p:cNvSpPr/>
            <p:nvPr/>
          </p:nvSpPr>
          <p:spPr>
            <a:xfrm>
              <a:off x="2520" y="508932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58" name="Line 17"/>
            <p:cNvSpPr/>
            <p:nvPr/>
          </p:nvSpPr>
          <p:spPr>
            <a:xfrm>
              <a:off x="2520" y="631368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grpSp>
          <p:nvGrpSpPr>
            <p:cNvPr id="159" name="Group 18"/>
            <p:cNvGrpSpPr/>
            <p:nvPr/>
          </p:nvGrpSpPr>
          <p:grpSpPr>
            <a:xfrm>
              <a:off x="0" y="-195840"/>
              <a:ext cx="12191760" cy="6857640"/>
              <a:chOff x="0" y="-195840"/>
              <a:chExt cx="12191760" cy="6857640"/>
            </a:xfrm>
          </p:grpSpPr>
          <p:sp>
            <p:nvSpPr>
              <p:cNvPr id="160" name="Line 19"/>
              <p:cNvSpPr/>
              <p:nvPr/>
            </p:nvSpPr>
            <p:spPr>
              <a:xfrm>
                <a:off x="22536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61" name="Line 20"/>
              <p:cNvSpPr/>
              <p:nvPr/>
            </p:nvSpPr>
            <p:spPr>
              <a:xfrm>
                <a:off x="144900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62" name="Line 21"/>
              <p:cNvSpPr/>
              <p:nvPr/>
            </p:nvSpPr>
            <p:spPr>
              <a:xfrm>
                <a:off x="266580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63" name="Line 22"/>
              <p:cNvSpPr/>
              <p:nvPr/>
            </p:nvSpPr>
            <p:spPr>
              <a:xfrm>
                <a:off x="3884760" y="-195840"/>
                <a:ext cx="681624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64" name="Line 23"/>
              <p:cNvSpPr/>
              <p:nvPr/>
            </p:nvSpPr>
            <p:spPr>
              <a:xfrm>
                <a:off x="510624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165" name="Group 24"/>
              <p:cNvGrpSpPr/>
              <p:nvPr/>
            </p:nvGrpSpPr>
            <p:grpSpPr>
              <a:xfrm>
                <a:off x="6327720" y="-195840"/>
                <a:ext cx="5864040" cy="5898240"/>
                <a:chOff x="6327720" y="-195840"/>
                <a:chExt cx="5864040" cy="5898240"/>
              </a:xfrm>
            </p:grpSpPr>
            <p:sp>
              <p:nvSpPr>
                <p:cNvPr id="166" name="Line 25"/>
                <p:cNvSpPr/>
                <p:nvPr/>
              </p:nvSpPr>
              <p:spPr>
                <a:xfrm>
                  <a:off x="6327720" y="-195840"/>
                  <a:ext cx="5864040" cy="5898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67" name="Line 26"/>
                <p:cNvSpPr/>
                <p:nvPr/>
              </p:nvSpPr>
              <p:spPr>
                <a:xfrm>
                  <a:off x="7549200" y="-195840"/>
                  <a:ext cx="4642560" cy="467208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68" name="Line 27"/>
                <p:cNvSpPr/>
                <p:nvPr/>
              </p:nvSpPr>
              <p:spPr>
                <a:xfrm>
                  <a:off x="8772840" y="-195840"/>
                  <a:ext cx="3418920" cy="345636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69" name="Line 28"/>
                <p:cNvSpPr/>
                <p:nvPr/>
              </p:nvSpPr>
              <p:spPr>
                <a:xfrm>
                  <a:off x="9982080" y="-195840"/>
                  <a:ext cx="2209680" cy="2226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70" name="Line 29"/>
                <p:cNvSpPr/>
                <p:nvPr/>
              </p:nvSpPr>
              <p:spPr>
                <a:xfrm>
                  <a:off x="11198880" y="-195840"/>
                  <a:ext cx="992880" cy="1002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171" name="Line 30"/>
              <p:cNvSpPr/>
              <p:nvPr/>
            </p:nvSpPr>
            <p:spPr>
              <a:xfrm flipH="1" flipV="1">
                <a:off x="0" y="815760"/>
                <a:ext cx="5828760" cy="58460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72" name="Line 31"/>
              <p:cNvSpPr/>
              <p:nvPr/>
            </p:nvSpPr>
            <p:spPr>
              <a:xfrm flipH="1" flipV="1">
                <a:off x="0" y="2031120"/>
                <a:ext cx="4614480" cy="463068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73" name="Line 32"/>
              <p:cNvSpPr/>
              <p:nvPr/>
            </p:nvSpPr>
            <p:spPr>
              <a:xfrm flipH="1" flipV="1">
                <a:off x="0" y="3236040"/>
                <a:ext cx="3398400" cy="342576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74" name="Line 33"/>
              <p:cNvSpPr/>
              <p:nvPr/>
            </p:nvSpPr>
            <p:spPr>
              <a:xfrm flipH="1" flipV="1">
                <a:off x="0" y="4455360"/>
                <a:ext cx="2196360" cy="22064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75" name="Line 34"/>
              <p:cNvSpPr/>
              <p:nvPr/>
            </p:nvSpPr>
            <p:spPr>
              <a:xfrm flipH="1" flipV="1">
                <a:off x="0" y="5668200"/>
                <a:ext cx="986760" cy="9936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76" name="Group 35"/>
            <p:cNvGrpSpPr/>
            <p:nvPr/>
          </p:nvGrpSpPr>
          <p:grpSpPr>
            <a:xfrm>
              <a:off x="0" y="-195840"/>
              <a:ext cx="12191760" cy="6857640"/>
              <a:chOff x="0" y="-195840"/>
              <a:chExt cx="12191760" cy="6857640"/>
            </a:xfrm>
          </p:grpSpPr>
          <p:sp>
            <p:nvSpPr>
              <p:cNvPr id="177" name="Line 36"/>
              <p:cNvSpPr/>
              <p:nvPr/>
            </p:nvSpPr>
            <p:spPr>
              <a:xfrm flipH="1">
                <a:off x="515052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78" name="Line 37"/>
              <p:cNvSpPr/>
              <p:nvPr/>
            </p:nvSpPr>
            <p:spPr>
              <a:xfrm flipH="1">
                <a:off x="392688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79" name="Line 38"/>
              <p:cNvSpPr/>
              <p:nvPr/>
            </p:nvSpPr>
            <p:spPr>
              <a:xfrm flipH="1">
                <a:off x="271008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80" name="Line 39"/>
              <p:cNvSpPr/>
              <p:nvPr/>
            </p:nvSpPr>
            <p:spPr>
              <a:xfrm flipH="1">
                <a:off x="149076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81" name="Line 40"/>
              <p:cNvSpPr/>
              <p:nvPr/>
            </p:nvSpPr>
            <p:spPr>
              <a:xfrm flipH="1">
                <a:off x="26928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182" name="Group 41"/>
              <p:cNvGrpSpPr/>
              <p:nvPr/>
            </p:nvGrpSpPr>
            <p:grpSpPr>
              <a:xfrm>
                <a:off x="0" y="-195840"/>
                <a:ext cx="5864040" cy="5898240"/>
                <a:chOff x="0" y="-195840"/>
                <a:chExt cx="5864040" cy="5898240"/>
              </a:xfrm>
            </p:grpSpPr>
            <p:sp>
              <p:nvSpPr>
                <p:cNvPr id="183" name="Line 42"/>
                <p:cNvSpPr/>
                <p:nvPr/>
              </p:nvSpPr>
              <p:spPr>
                <a:xfrm flipH="1">
                  <a:off x="0" y="-195840"/>
                  <a:ext cx="5864040" cy="5898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84" name="Line 43"/>
                <p:cNvSpPr/>
                <p:nvPr/>
              </p:nvSpPr>
              <p:spPr>
                <a:xfrm flipH="1">
                  <a:off x="0" y="-195840"/>
                  <a:ext cx="4642560" cy="467208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85" name="Line 44"/>
                <p:cNvSpPr/>
                <p:nvPr/>
              </p:nvSpPr>
              <p:spPr>
                <a:xfrm flipH="1">
                  <a:off x="0" y="-195840"/>
                  <a:ext cx="3418920" cy="345636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86" name="Line 45"/>
                <p:cNvSpPr/>
                <p:nvPr/>
              </p:nvSpPr>
              <p:spPr>
                <a:xfrm flipH="1">
                  <a:off x="0" y="-195840"/>
                  <a:ext cx="2209680" cy="2226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87" name="Line 46"/>
                <p:cNvSpPr/>
                <p:nvPr/>
              </p:nvSpPr>
              <p:spPr>
                <a:xfrm flipH="1">
                  <a:off x="0" y="-195840"/>
                  <a:ext cx="992880" cy="1002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188" name="Line 47"/>
              <p:cNvSpPr/>
              <p:nvPr/>
            </p:nvSpPr>
            <p:spPr>
              <a:xfrm flipV="1">
                <a:off x="6363000" y="815760"/>
                <a:ext cx="5828760" cy="58460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89" name="Line 48"/>
              <p:cNvSpPr/>
              <p:nvPr/>
            </p:nvSpPr>
            <p:spPr>
              <a:xfrm flipV="1">
                <a:off x="7576920" y="2031120"/>
                <a:ext cx="4614840" cy="463068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90" name="Line 49"/>
              <p:cNvSpPr/>
              <p:nvPr/>
            </p:nvSpPr>
            <p:spPr>
              <a:xfrm flipV="1">
                <a:off x="8793360" y="3236040"/>
                <a:ext cx="3398400" cy="342576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91" name="Line 50"/>
              <p:cNvSpPr/>
              <p:nvPr/>
            </p:nvSpPr>
            <p:spPr>
              <a:xfrm flipV="1">
                <a:off x="9995400" y="4455360"/>
                <a:ext cx="2196360" cy="22064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192" name="Line 51"/>
              <p:cNvSpPr/>
              <p:nvPr/>
            </p:nvSpPr>
            <p:spPr>
              <a:xfrm flipV="1">
                <a:off x="11204640" y="5668200"/>
                <a:ext cx="987120" cy="9936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193" name="Line 52"/>
          <p:cNvSpPr/>
          <p:nvPr/>
        </p:nvSpPr>
        <p:spPr>
          <a:xfrm>
            <a:off x="609480" y="6172200"/>
            <a:ext cx="10972800" cy="360"/>
          </a:xfrm>
          <a:prstGeom prst="line">
            <a:avLst/>
          </a:prstGeom>
          <a:ln w="12600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94" name="PlaceHolder 5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IN" sz="4400" b="0" strike="noStrike" spc="-1"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195" name="PlaceHolder 5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3200" b="0" strike="noStrike" spc="-1"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2800" b="0" strike="noStrike" spc="-1"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400" b="0" strike="noStrike" spc="-1"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2000" b="0" strike="noStrike" spc="-1"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roup 1"/>
          <p:cNvGrpSpPr/>
          <p:nvPr/>
        </p:nvGrpSpPr>
        <p:grpSpPr>
          <a:xfrm>
            <a:off x="0" y="-195840"/>
            <a:ext cx="12191760" cy="6857640"/>
            <a:chOff x="0" y="-195840"/>
            <a:chExt cx="12191760" cy="6857640"/>
          </a:xfrm>
        </p:grpSpPr>
        <p:sp>
          <p:nvSpPr>
            <p:cNvPr id="233" name="Line 2"/>
            <p:cNvSpPr/>
            <p:nvPr/>
          </p:nvSpPr>
          <p:spPr>
            <a:xfrm>
              <a:off x="60984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34" name="Line 3"/>
            <p:cNvSpPr/>
            <p:nvPr/>
          </p:nvSpPr>
          <p:spPr>
            <a:xfrm>
              <a:off x="182916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35" name="Line 4"/>
            <p:cNvSpPr/>
            <p:nvPr/>
          </p:nvSpPr>
          <p:spPr>
            <a:xfrm>
              <a:off x="304812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36" name="Line 5"/>
            <p:cNvSpPr/>
            <p:nvPr/>
          </p:nvSpPr>
          <p:spPr>
            <a:xfrm>
              <a:off x="426744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37" name="Line 6"/>
            <p:cNvSpPr/>
            <p:nvPr/>
          </p:nvSpPr>
          <p:spPr>
            <a:xfrm>
              <a:off x="548640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38" name="Line 7"/>
            <p:cNvSpPr/>
            <p:nvPr/>
          </p:nvSpPr>
          <p:spPr>
            <a:xfrm>
              <a:off x="670572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39" name="Line 8"/>
            <p:cNvSpPr/>
            <p:nvPr/>
          </p:nvSpPr>
          <p:spPr>
            <a:xfrm>
              <a:off x="792468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40" name="Line 9"/>
            <p:cNvSpPr/>
            <p:nvPr/>
          </p:nvSpPr>
          <p:spPr>
            <a:xfrm>
              <a:off x="914400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41" name="Line 10"/>
            <p:cNvSpPr/>
            <p:nvPr/>
          </p:nvSpPr>
          <p:spPr>
            <a:xfrm>
              <a:off x="1036296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42" name="Line 11"/>
            <p:cNvSpPr/>
            <p:nvPr/>
          </p:nvSpPr>
          <p:spPr>
            <a:xfrm>
              <a:off x="11582280" y="-195840"/>
              <a:ext cx="360" cy="685764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43" name="Line 12"/>
            <p:cNvSpPr/>
            <p:nvPr/>
          </p:nvSpPr>
          <p:spPr>
            <a:xfrm>
              <a:off x="2520" y="19044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44" name="Line 13"/>
            <p:cNvSpPr/>
            <p:nvPr/>
          </p:nvSpPr>
          <p:spPr>
            <a:xfrm>
              <a:off x="2520" y="141516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45" name="Line 14"/>
            <p:cNvSpPr/>
            <p:nvPr/>
          </p:nvSpPr>
          <p:spPr>
            <a:xfrm>
              <a:off x="2520" y="263988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46" name="Line 15"/>
            <p:cNvSpPr/>
            <p:nvPr/>
          </p:nvSpPr>
          <p:spPr>
            <a:xfrm>
              <a:off x="2520" y="386460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47" name="Line 16"/>
            <p:cNvSpPr/>
            <p:nvPr/>
          </p:nvSpPr>
          <p:spPr>
            <a:xfrm>
              <a:off x="2520" y="508932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248" name="Line 17"/>
            <p:cNvSpPr/>
            <p:nvPr/>
          </p:nvSpPr>
          <p:spPr>
            <a:xfrm>
              <a:off x="2520" y="6313680"/>
              <a:ext cx="12189240" cy="36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grpSp>
          <p:nvGrpSpPr>
            <p:cNvPr id="249" name="Group 18"/>
            <p:cNvGrpSpPr/>
            <p:nvPr/>
          </p:nvGrpSpPr>
          <p:grpSpPr>
            <a:xfrm>
              <a:off x="0" y="-195840"/>
              <a:ext cx="12191760" cy="6857640"/>
              <a:chOff x="0" y="-195840"/>
              <a:chExt cx="12191760" cy="6857640"/>
            </a:xfrm>
          </p:grpSpPr>
          <p:sp>
            <p:nvSpPr>
              <p:cNvPr id="250" name="Line 19"/>
              <p:cNvSpPr/>
              <p:nvPr/>
            </p:nvSpPr>
            <p:spPr>
              <a:xfrm>
                <a:off x="22536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51" name="Line 20"/>
              <p:cNvSpPr/>
              <p:nvPr/>
            </p:nvSpPr>
            <p:spPr>
              <a:xfrm>
                <a:off x="144900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52" name="Line 21"/>
              <p:cNvSpPr/>
              <p:nvPr/>
            </p:nvSpPr>
            <p:spPr>
              <a:xfrm>
                <a:off x="266580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53" name="Line 22"/>
              <p:cNvSpPr/>
              <p:nvPr/>
            </p:nvSpPr>
            <p:spPr>
              <a:xfrm>
                <a:off x="3884760" y="-195840"/>
                <a:ext cx="681624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54" name="Line 23"/>
              <p:cNvSpPr/>
              <p:nvPr/>
            </p:nvSpPr>
            <p:spPr>
              <a:xfrm>
                <a:off x="510624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55" name="Group 24"/>
              <p:cNvGrpSpPr/>
              <p:nvPr/>
            </p:nvGrpSpPr>
            <p:grpSpPr>
              <a:xfrm>
                <a:off x="6327720" y="-195840"/>
                <a:ext cx="5864040" cy="5898240"/>
                <a:chOff x="6327720" y="-195840"/>
                <a:chExt cx="5864040" cy="5898240"/>
              </a:xfrm>
            </p:grpSpPr>
            <p:sp>
              <p:nvSpPr>
                <p:cNvPr id="256" name="Line 25"/>
                <p:cNvSpPr/>
                <p:nvPr/>
              </p:nvSpPr>
              <p:spPr>
                <a:xfrm>
                  <a:off x="6327720" y="-195840"/>
                  <a:ext cx="5864040" cy="5898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57" name="Line 26"/>
                <p:cNvSpPr/>
                <p:nvPr/>
              </p:nvSpPr>
              <p:spPr>
                <a:xfrm>
                  <a:off x="7549200" y="-195840"/>
                  <a:ext cx="4642560" cy="467208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58" name="Line 27"/>
                <p:cNvSpPr/>
                <p:nvPr/>
              </p:nvSpPr>
              <p:spPr>
                <a:xfrm>
                  <a:off x="8772840" y="-195840"/>
                  <a:ext cx="3418920" cy="345636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59" name="Line 28"/>
                <p:cNvSpPr/>
                <p:nvPr/>
              </p:nvSpPr>
              <p:spPr>
                <a:xfrm>
                  <a:off x="9982080" y="-195840"/>
                  <a:ext cx="2209680" cy="2226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0" name="Line 29"/>
                <p:cNvSpPr/>
                <p:nvPr/>
              </p:nvSpPr>
              <p:spPr>
                <a:xfrm>
                  <a:off x="11198880" y="-195840"/>
                  <a:ext cx="992880" cy="1002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261" name="Line 30"/>
              <p:cNvSpPr/>
              <p:nvPr/>
            </p:nvSpPr>
            <p:spPr>
              <a:xfrm flipH="1" flipV="1">
                <a:off x="0" y="815760"/>
                <a:ext cx="5828760" cy="58460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62" name="Line 31"/>
              <p:cNvSpPr/>
              <p:nvPr/>
            </p:nvSpPr>
            <p:spPr>
              <a:xfrm flipH="1" flipV="1">
                <a:off x="0" y="2031120"/>
                <a:ext cx="4614480" cy="463068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63" name="Line 32"/>
              <p:cNvSpPr/>
              <p:nvPr/>
            </p:nvSpPr>
            <p:spPr>
              <a:xfrm flipH="1" flipV="1">
                <a:off x="0" y="3236040"/>
                <a:ext cx="3398400" cy="342576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64" name="Line 33"/>
              <p:cNvSpPr/>
              <p:nvPr/>
            </p:nvSpPr>
            <p:spPr>
              <a:xfrm flipH="1" flipV="1">
                <a:off x="0" y="4455360"/>
                <a:ext cx="2196360" cy="22064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65" name="Line 34"/>
              <p:cNvSpPr/>
              <p:nvPr/>
            </p:nvSpPr>
            <p:spPr>
              <a:xfrm flipH="1" flipV="1">
                <a:off x="0" y="5668200"/>
                <a:ext cx="986760" cy="9936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66" name="Group 35"/>
            <p:cNvGrpSpPr/>
            <p:nvPr/>
          </p:nvGrpSpPr>
          <p:grpSpPr>
            <a:xfrm>
              <a:off x="0" y="-195840"/>
              <a:ext cx="12191760" cy="6857640"/>
              <a:chOff x="0" y="-195840"/>
              <a:chExt cx="12191760" cy="6857640"/>
            </a:xfrm>
          </p:grpSpPr>
          <p:sp>
            <p:nvSpPr>
              <p:cNvPr id="267" name="Line 36"/>
              <p:cNvSpPr/>
              <p:nvPr/>
            </p:nvSpPr>
            <p:spPr>
              <a:xfrm flipH="1">
                <a:off x="515052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68" name="Line 37"/>
              <p:cNvSpPr/>
              <p:nvPr/>
            </p:nvSpPr>
            <p:spPr>
              <a:xfrm flipH="1">
                <a:off x="392688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69" name="Line 38"/>
              <p:cNvSpPr/>
              <p:nvPr/>
            </p:nvSpPr>
            <p:spPr>
              <a:xfrm flipH="1">
                <a:off x="271008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70" name="Line 39"/>
              <p:cNvSpPr/>
              <p:nvPr/>
            </p:nvSpPr>
            <p:spPr>
              <a:xfrm flipH="1">
                <a:off x="149076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71" name="Line 40"/>
              <p:cNvSpPr/>
              <p:nvPr/>
            </p:nvSpPr>
            <p:spPr>
              <a:xfrm flipH="1">
                <a:off x="269280" y="-195840"/>
                <a:ext cx="6815880" cy="68576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72" name="Group 41"/>
              <p:cNvGrpSpPr/>
              <p:nvPr/>
            </p:nvGrpSpPr>
            <p:grpSpPr>
              <a:xfrm>
                <a:off x="0" y="-195840"/>
                <a:ext cx="5864040" cy="5898240"/>
                <a:chOff x="0" y="-195840"/>
                <a:chExt cx="5864040" cy="5898240"/>
              </a:xfrm>
            </p:grpSpPr>
            <p:sp>
              <p:nvSpPr>
                <p:cNvPr id="273" name="Line 42"/>
                <p:cNvSpPr/>
                <p:nvPr/>
              </p:nvSpPr>
              <p:spPr>
                <a:xfrm flipH="1">
                  <a:off x="0" y="-195840"/>
                  <a:ext cx="5864040" cy="5898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74" name="Line 43"/>
                <p:cNvSpPr/>
                <p:nvPr/>
              </p:nvSpPr>
              <p:spPr>
                <a:xfrm flipH="1">
                  <a:off x="0" y="-195840"/>
                  <a:ext cx="4642560" cy="467208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75" name="Line 44"/>
                <p:cNvSpPr/>
                <p:nvPr/>
              </p:nvSpPr>
              <p:spPr>
                <a:xfrm flipH="1">
                  <a:off x="0" y="-195840"/>
                  <a:ext cx="3418920" cy="345636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76" name="Line 45"/>
                <p:cNvSpPr/>
                <p:nvPr/>
              </p:nvSpPr>
              <p:spPr>
                <a:xfrm flipH="1">
                  <a:off x="0" y="-195840"/>
                  <a:ext cx="2209680" cy="2226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77" name="Line 46"/>
                <p:cNvSpPr/>
                <p:nvPr/>
              </p:nvSpPr>
              <p:spPr>
                <a:xfrm flipH="1">
                  <a:off x="0" y="-195840"/>
                  <a:ext cx="992880" cy="100224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278" name="Line 47"/>
              <p:cNvSpPr/>
              <p:nvPr/>
            </p:nvSpPr>
            <p:spPr>
              <a:xfrm flipV="1">
                <a:off x="6363000" y="815760"/>
                <a:ext cx="5828760" cy="58460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79" name="Line 48"/>
              <p:cNvSpPr/>
              <p:nvPr/>
            </p:nvSpPr>
            <p:spPr>
              <a:xfrm flipV="1">
                <a:off x="7576920" y="2031120"/>
                <a:ext cx="4614840" cy="463068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80" name="Line 49"/>
              <p:cNvSpPr/>
              <p:nvPr/>
            </p:nvSpPr>
            <p:spPr>
              <a:xfrm flipV="1">
                <a:off x="8793360" y="3236040"/>
                <a:ext cx="3398400" cy="342576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81" name="Line 50"/>
              <p:cNvSpPr/>
              <p:nvPr/>
            </p:nvSpPr>
            <p:spPr>
              <a:xfrm flipV="1">
                <a:off x="9995400" y="4455360"/>
                <a:ext cx="2196360" cy="220644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  <p:sp>
            <p:nvSpPr>
              <p:cNvPr id="282" name="Line 51"/>
              <p:cNvSpPr/>
              <p:nvPr/>
            </p:nvSpPr>
            <p:spPr>
              <a:xfrm flipV="1">
                <a:off x="11204640" y="5668200"/>
                <a:ext cx="987120" cy="9936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83" name="Line 52"/>
          <p:cNvSpPr/>
          <p:nvPr/>
        </p:nvSpPr>
        <p:spPr>
          <a:xfrm>
            <a:off x="609480" y="6172200"/>
            <a:ext cx="10972800" cy="360"/>
          </a:xfrm>
          <a:prstGeom prst="line">
            <a:avLst/>
          </a:prstGeom>
          <a:ln w="12600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84" name="PlaceHolder 53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IN" sz="1800" b="0" strike="noStrike" spc="-1"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285" name="PlaceHolder 54"/>
          <p:cNvSpPr>
            <a:spLocks noGrp="1"/>
          </p:cNvSpPr>
          <p:nvPr>
            <p:ph type="body"/>
          </p:nvPr>
        </p:nvSpPr>
        <p:spPr>
          <a:xfrm>
            <a:off x="1295280" y="1981080"/>
            <a:ext cx="223056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latin typeface="Arial" panose="020B0604020202020204"/>
              </a:rPr>
              <a:t>Seventh Outline Level</a:t>
            </a:r>
          </a:p>
        </p:txBody>
      </p:sp>
      <p:sp>
        <p:nvSpPr>
          <p:cNvPr id="286" name="PlaceHolder 55"/>
          <p:cNvSpPr>
            <a:spLocks noGrp="1"/>
          </p:cNvSpPr>
          <p:nvPr>
            <p:ph type="body"/>
          </p:nvPr>
        </p:nvSpPr>
        <p:spPr>
          <a:xfrm>
            <a:off x="3638160" y="1981080"/>
            <a:ext cx="2230560" cy="3809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Rg4tRqmhJZgDQguHY65TJkoBLfIiPWYA/view?usp=sharing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drive.google.com/file/d/1lIlGvdYzv4MvpNgnwiCW_jou5I_NWRqX/view?usp=sharing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tags" Target="../tags/tag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stamp/stamp.jsp?tp=&amp;arnumber=9258691&amp;isnumber=9258668" TargetMode="External"/><Relationship Id="rId2" Type="http://schemas.openxmlformats.org/officeDocument/2006/relationships/hyperlink" Target="https://ieeexplore.ieee.org/stamp/stamp.jsp?tp=&amp;arnumber=7981647&amp;isnumber=7981627" TargetMode="External"/><Relationship Id="rId1" Type="http://schemas.openxmlformats.org/officeDocument/2006/relationships/slideLayout" Target="../slideLayouts/slideLayout28.xml"/><Relationship Id="rId4" Type="http://schemas.openxmlformats.org/officeDocument/2006/relationships/hyperlink" Target="https://ieeexplore.ieee.org/stamp/stamp.jsp?tp=&amp;arnumber=4662686&amp;isnumber=4662554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stamp/stamp.jsp?tp=&amp;arnumber=10187573&amp;isnumber=10187205" TargetMode="External"/><Relationship Id="rId2" Type="http://schemas.openxmlformats.org/officeDocument/2006/relationships/hyperlink" Target="https://ieeexplore.ieee.org/document/9968950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eeexplore.ieee.org/document/6939707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CustomShape 1"/>
          <p:cNvSpPr/>
          <p:nvPr/>
        </p:nvSpPr>
        <p:spPr>
          <a:xfrm>
            <a:off x="399415" y="2640965"/>
            <a:ext cx="11626215" cy="131318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76000"/>
              </a:lnSpc>
            </a:pPr>
            <a:r>
              <a:rPr lang="en-US" altLang="en-GB" sz="3200" b="1" strike="noStrike" spc="-1" dirty="0">
                <a:latin typeface="+mj-lt"/>
                <a:cs typeface="+mj-lt"/>
              </a:rPr>
              <a:t>Hardware-in-the-Loop (HIL) System for DC–DC Converter.</a:t>
            </a:r>
          </a:p>
        </p:txBody>
      </p:sp>
      <p:sp>
        <p:nvSpPr>
          <p:cNvPr id="330" name="CustomShape 2"/>
          <p:cNvSpPr/>
          <p:nvPr/>
        </p:nvSpPr>
        <p:spPr>
          <a:xfrm>
            <a:off x="1755935" y="4610260"/>
            <a:ext cx="9603720" cy="45648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en-US" altLang="en-IN" sz="2000" b="0" strike="noStrike" spc="-1" dirty="0">
                <a:solidFill>
                  <a:srgbClr val="A43F27"/>
                </a:solidFill>
                <a:latin typeface="Arial" panose="020B0604020202020204"/>
              </a:rPr>
              <a:t>Final Year</a:t>
            </a:r>
            <a:r>
              <a:rPr lang="en-IN" sz="2000" b="0" strike="noStrike" spc="-1" dirty="0">
                <a:solidFill>
                  <a:srgbClr val="A43F27"/>
                </a:solidFill>
                <a:latin typeface="Arial" panose="020B0604020202020204"/>
              </a:rPr>
              <a:t> Project (</a:t>
            </a:r>
            <a:r>
              <a:rPr lang="en-IN" sz="2000" spc="-1" dirty="0">
                <a:solidFill>
                  <a:srgbClr val="A43F27"/>
                </a:solidFill>
                <a:latin typeface="Arial" panose="020B0604020202020204"/>
                <a:sym typeface="+mn-ea"/>
              </a:rPr>
              <a:t>July 2025 – April 2026</a:t>
            </a:r>
            <a:r>
              <a:rPr lang="en-IN" sz="2000" b="0" strike="noStrike" spc="-1" dirty="0">
                <a:solidFill>
                  <a:srgbClr val="A43F27"/>
                </a:solidFill>
                <a:latin typeface="Arial" panose="020B0604020202020204"/>
              </a:rPr>
              <a:t>)</a:t>
            </a:r>
            <a:endParaRPr lang="en-IN" sz="2000" b="0" strike="noStrike" spc="-1" dirty="0">
              <a:latin typeface="Arial" panose="020B0604020202020204"/>
            </a:endParaRPr>
          </a:p>
        </p:txBody>
      </p:sp>
      <p:sp>
        <p:nvSpPr>
          <p:cNvPr id="331" name="CustomShape 3"/>
          <p:cNvSpPr/>
          <p:nvPr/>
        </p:nvSpPr>
        <p:spPr>
          <a:xfrm>
            <a:off x="1342735" y="5517705"/>
            <a:ext cx="9603720" cy="114768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IN" sz="2000" b="0" strike="noStrike" spc="-1" dirty="0">
                <a:solidFill>
                  <a:srgbClr val="A43F27"/>
                </a:solidFill>
                <a:latin typeface="Arial" panose="020B0604020202020204"/>
                <a:ea typeface="DejaVu Sans"/>
              </a:rPr>
              <a:t>				</a:t>
            </a:r>
            <a:r>
              <a:rPr lang="en-US" altLang="en-IN" sz="2000" b="0" strike="noStrike" spc="-1" dirty="0">
                <a:solidFill>
                  <a:srgbClr val="A43F27"/>
                </a:solidFill>
                <a:latin typeface="Arial" panose="020B0604020202020204"/>
                <a:ea typeface="DejaVu Sans"/>
              </a:rPr>
              <a:t>                </a:t>
            </a:r>
            <a:r>
              <a:rPr lang="en-US" altLang="en-IN" sz="2400" b="0" strike="noStrike" spc="-1" dirty="0">
                <a:solidFill>
                  <a:srgbClr val="A43F27"/>
                </a:solidFill>
                <a:latin typeface="Times New Roman" panose="02020603050405020304" charset="0"/>
                <a:ea typeface="DejaVu Sans"/>
                <a:cs typeface="Times New Roman" panose="02020603050405020304" charset="0"/>
              </a:rPr>
              <a:t>- </a:t>
            </a:r>
            <a:r>
              <a:rPr lang="en-US" altLang="en-GB" sz="2400" b="0" strike="noStrike" spc="-1" dirty="0">
                <a:latin typeface="Times New Roman" panose="02020603050405020304" charset="0"/>
                <a:cs typeface="Times New Roman" panose="02020603050405020304" charset="0"/>
              </a:rPr>
              <a:t>Krishna Teja </a:t>
            </a:r>
            <a:r>
              <a:rPr lang="en-US" altLang="en-GB" sz="2400" b="0" strike="noStrike" spc="-1" dirty="0" err="1">
                <a:latin typeface="Times New Roman" panose="02020603050405020304" charset="0"/>
                <a:cs typeface="Times New Roman" panose="02020603050405020304" charset="0"/>
              </a:rPr>
              <a:t>Regintala</a:t>
            </a:r>
            <a:r>
              <a:rPr lang="en-US" altLang="en-GB" sz="2400" b="0" strike="noStrike" spc="-1" dirty="0">
                <a:latin typeface="Times New Roman" panose="02020603050405020304" charset="0"/>
                <a:cs typeface="Times New Roman" panose="02020603050405020304" charset="0"/>
              </a:rPr>
              <a:t> (122EC0045)</a:t>
            </a:r>
          </a:p>
          <a:p>
            <a:pPr>
              <a:lnSpc>
                <a:spcPct val="90000"/>
              </a:lnSpc>
            </a:pPr>
            <a:r>
              <a:rPr lang="en-IN" sz="2000" b="0" strike="noStrike" spc="-1" dirty="0">
                <a:solidFill>
                  <a:srgbClr val="A43F27"/>
                </a:solidFill>
                <a:latin typeface="Arial" panose="020B0604020202020204"/>
                <a:ea typeface="DejaVu Sans"/>
              </a:rPr>
              <a:t>							 </a:t>
            </a:r>
            <a:endParaRPr lang="en-IN" sz="2000" b="0" strike="noStrike" spc="-1" dirty="0">
              <a:latin typeface="Arial" panose="020B0604020202020204"/>
            </a:endParaRPr>
          </a:p>
          <a:p>
            <a:pPr>
              <a:lnSpc>
                <a:spcPct val="90000"/>
              </a:lnSpc>
            </a:pPr>
            <a:r>
              <a:rPr lang="en-IN" sz="2000" b="0" strike="noStrike" spc="-1" dirty="0">
                <a:solidFill>
                  <a:srgbClr val="A43F27"/>
                </a:solidFill>
                <a:latin typeface="Arial" panose="020B0604020202020204"/>
                <a:ea typeface="DejaVu Sans"/>
              </a:rPr>
              <a:t>							</a:t>
            </a:r>
            <a:endParaRPr lang="en-IN" sz="2000" b="0" strike="noStrike" spc="-1" dirty="0">
              <a:latin typeface="Arial" panose="020B0604020202020204"/>
            </a:endParaRPr>
          </a:p>
        </p:txBody>
      </p:sp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86360"/>
            <a:ext cx="1894205" cy="166433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245360" y="394970"/>
            <a:ext cx="87369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400" b="1"/>
              <a:t>Indian Institute of Information Technology</a:t>
            </a:r>
          </a:p>
          <a:p>
            <a:pPr algn="ctr"/>
            <a:r>
              <a:rPr lang="en-US" altLang="en-GB" sz="2400" b="1"/>
              <a:t>Design And Manufacturing Kurnool.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868295" y="1555115"/>
            <a:ext cx="772223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200"/>
              <a:t>Department of Electronics and Communication Engineering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997584" y="5448935"/>
            <a:ext cx="50984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400" dirty="0">
                <a:latin typeface="Times New Roman" panose="02020603050405020304" charset="0"/>
                <a:cs typeface="Times New Roman" panose="02020603050405020304" charset="0"/>
              </a:rPr>
              <a:t>Guided by : Dr. KV </a:t>
            </a:r>
            <a:r>
              <a:rPr lang="en-US" altLang="en-GB" sz="2400" dirty="0" err="1">
                <a:latin typeface="Times New Roman" panose="02020603050405020304" charset="0"/>
                <a:cs typeface="Times New Roman" panose="02020603050405020304" charset="0"/>
              </a:rPr>
              <a:t>Eswaramoorthy</a:t>
            </a:r>
            <a:r>
              <a:rPr lang="en-US" altLang="en-GB" sz="24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CustomShape 1"/>
          <p:cNvSpPr/>
          <p:nvPr/>
        </p:nvSpPr>
        <p:spPr>
          <a:xfrm>
            <a:off x="546735" y="207010"/>
            <a:ext cx="9600565" cy="74803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90000"/>
              </a:lnSpc>
            </a:pPr>
            <a:r>
              <a:rPr lang="en-IN" sz="3200" b="1" strike="noStrike" spc="-1">
                <a:solidFill>
                  <a:srgbClr val="A43F27"/>
                </a:solidFill>
                <a:latin typeface="Arial" panose="020B0604020202020204"/>
              </a:rPr>
              <a:t>Objective</a:t>
            </a:r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36" name="CustomShape 2"/>
          <p:cNvSpPr/>
          <p:nvPr/>
        </p:nvSpPr>
        <p:spPr>
          <a:xfrm>
            <a:off x="669925" y="1238250"/>
            <a:ext cx="10995660" cy="245745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/>
          <a:lstStyle/>
          <a:p>
            <a:pPr marL="228600" indent="-227965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/>
              <a:buChar char="▪"/>
            </a:pPr>
            <a:r>
              <a:rPr lang="en-GB" altLang="en-GB" sz="2000" spc="-1" dirty="0"/>
              <a:t>To design and implement an FPGA-based Buck Converter using PWM control.</a:t>
            </a:r>
          </a:p>
          <a:p>
            <a:pPr marL="228600" indent="-227965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/>
              <a:buChar char="▪"/>
            </a:pPr>
            <a:r>
              <a:rPr lang="en-GB" altLang="en-GB" sz="2000" spc="-1" dirty="0"/>
              <a:t>To develop a Hardware-in-the-Loop (HIL) framework using MATLAB and FPGA.</a:t>
            </a:r>
          </a:p>
          <a:p>
            <a:pPr marL="228600" indent="-227965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/>
              <a:buChar char="▪"/>
            </a:pPr>
            <a:r>
              <a:rPr lang="en-GB" altLang="en-GB" sz="2000" spc="-1" dirty="0"/>
              <a:t>To achieve real-time output voltage regulation and validation using closed-loop control.</a:t>
            </a:r>
          </a:p>
          <a:p>
            <a:pPr marL="228600" indent="-227965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/>
              <a:buChar char="▪"/>
            </a:pPr>
            <a:r>
              <a:rPr lang="en-GB" altLang="en-GB" sz="2000" b="0" strike="noStrike" spc="-1" dirty="0">
                <a:latin typeface="Arial" panose="020B0604020202020204"/>
              </a:rPr>
              <a:t>To </a:t>
            </a:r>
            <a:r>
              <a:rPr lang="en-GB" altLang="en-GB" sz="2000" b="0" strike="noStrike" spc="-1" dirty="0" err="1">
                <a:latin typeface="Arial" panose="020B0604020202020204"/>
              </a:rPr>
              <a:t>analyze</a:t>
            </a:r>
            <a:r>
              <a:rPr lang="en-GB" altLang="en-GB" sz="2000" b="0" strike="noStrike" spc="-1" dirty="0">
                <a:latin typeface="Arial" panose="020B0604020202020204"/>
              </a:rPr>
              <a:t> and compare open-loop and closed-loop (PI controller) performance.</a:t>
            </a:r>
            <a:endParaRPr lang="en-US" altLang="en-GB" sz="2000" b="0" strike="noStrike" spc="-1" dirty="0">
              <a:latin typeface="Arial" panose="020B0604020202020204"/>
            </a:endParaRPr>
          </a:p>
        </p:txBody>
      </p:sp>
      <p:sp>
        <p:nvSpPr>
          <p:cNvPr id="337" name="CustomShape 3"/>
          <p:cNvSpPr/>
          <p:nvPr/>
        </p:nvSpPr>
        <p:spPr>
          <a:xfrm>
            <a:off x="10665360" y="6289560"/>
            <a:ext cx="918000" cy="22176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" name="Text Box 1"/>
          <p:cNvSpPr txBox="1"/>
          <p:nvPr/>
        </p:nvSpPr>
        <p:spPr>
          <a:xfrm>
            <a:off x="546735" y="3695700"/>
            <a:ext cx="60960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IN" sz="3200" b="1" spc="-1">
                <a:solidFill>
                  <a:srgbClr val="A43F27"/>
                </a:solidFill>
                <a:latin typeface="Arial" panose="020B0604020202020204"/>
                <a:sym typeface="+mn-ea"/>
              </a:rPr>
              <a:t>Scope</a:t>
            </a:r>
            <a:endParaRPr lang="en-IN" altLang="en-US" sz="3200" b="1" spc="-1">
              <a:solidFill>
                <a:srgbClr val="A43F27"/>
              </a:solidFill>
              <a:latin typeface="Arial" panose="020B0604020202020204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69925" y="4229735"/>
            <a:ext cx="109131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GB" sz="2000" dirty="0"/>
              <a:t>Buck converter is implemented in hardware using </a:t>
            </a:r>
            <a:r>
              <a:rPr lang="en-GB" altLang="en-GB" sz="2000" dirty="0" err="1"/>
              <a:t>ZedBoard</a:t>
            </a:r>
            <a:r>
              <a:rPr lang="en-GB" altLang="en-GB" sz="2000" dirty="0"/>
              <a:t> FPGA.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GB" sz="2000" dirty="0"/>
              <a:t>Other converters are </a:t>
            </a:r>
            <a:r>
              <a:rPr lang="en-GB" altLang="en-GB" sz="2000" dirty="0" err="1"/>
              <a:t>analyzed</a:t>
            </a:r>
            <a:r>
              <a:rPr lang="en-GB" altLang="en-GB" sz="2000" dirty="0"/>
              <a:t> in simulation only for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 dirty="0"/>
              <a:t>It provides a scalable framework applicable to power electronics, renewable energy, and electric vehicle systems.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CustomShape 1"/>
          <p:cNvSpPr/>
          <p:nvPr/>
        </p:nvSpPr>
        <p:spPr>
          <a:xfrm>
            <a:off x="546615" y="-190"/>
            <a:ext cx="9600480" cy="114156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90000"/>
              </a:lnSpc>
            </a:pPr>
            <a:br/>
            <a:r>
              <a:rPr lang="en-IN" sz="3200" b="1" strike="noStrike" spc="-1">
                <a:solidFill>
                  <a:srgbClr val="A43F27"/>
                </a:solidFill>
                <a:latin typeface="Arial" panose="020B0604020202020204"/>
              </a:rPr>
              <a:t>Introduction</a:t>
            </a:r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42" name="CustomShape 2"/>
          <p:cNvSpPr/>
          <p:nvPr/>
        </p:nvSpPr>
        <p:spPr>
          <a:xfrm>
            <a:off x="608640" y="1591830"/>
            <a:ext cx="10968355" cy="469773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/>
          <a:lstStyle/>
          <a:p>
            <a:pPr marL="228600" indent="-227965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/>
              <a:buChar char="▪"/>
            </a:pPr>
            <a:r>
              <a:rPr lang="en-GB" altLang="en-GB" sz="2000" spc="-1" dirty="0"/>
              <a:t>DC–DC converters are widely used for voltage regulation in EVs, renewable energy, and embedded systems.</a:t>
            </a:r>
          </a:p>
          <a:p>
            <a:pPr marL="228600" indent="-227965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/>
              <a:buChar char="▪"/>
            </a:pPr>
            <a:r>
              <a:rPr lang="en-GB" altLang="en-GB" sz="2000" spc="-1" dirty="0"/>
              <a:t>Among them, the buck converter (step-down) is simple and widely used in practical applications.</a:t>
            </a:r>
          </a:p>
          <a:p>
            <a:pPr marL="228600" indent="-227965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/>
              <a:buChar char="▪"/>
            </a:pPr>
            <a:r>
              <a:rPr lang="en-GB" altLang="en-GB" sz="2000" spc="-1" dirty="0"/>
              <a:t>This project focuses on </a:t>
            </a:r>
            <a:r>
              <a:rPr lang="en-GB" altLang="en-GB" sz="2000" spc="-1" dirty="0" err="1"/>
              <a:t>modeling</a:t>
            </a:r>
            <a:r>
              <a:rPr lang="en-GB" altLang="en-GB" sz="2000" spc="-1" dirty="0"/>
              <a:t> and controlling a buck converter using a discrete PI controller.</a:t>
            </a:r>
          </a:p>
          <a:p>
            <a:pPr marL="228600" indent="-227965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/>
              <a:buChar char="▪"/>
            </a:pPr>
            <a:r>
              <a:rPr lang="en-GB" altLang="en-GB" sz="2000" spc="-1" dirty="0"/>
              <a:t>The controller and PWM logic are implemented on FPGA (Zynq-7000) using HDL workflow and </a:t>
            </a:r>
            <a:r>
              <a:rPr lang="en-GB" altLang="en-GB" sz="2000" spc="-1" dirty="0" err="1"/>
              <a:t>Vivado</a:t>
            </a:r>
            <a:r>
              <a:rPr lang="en-GB" altLang="en-GB" sz="2000" spc="-1" dirty="0"/>
              <a:t>.</a:t>
            </a:r>
          </a:p>
          <a:p>
            <a:pPr marL="228600" indent="-227965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/>
              <a:buChar char="▪"/>
            </a:pPr>
            <a:r>
              <a:rPr lang="en-GB" altLang="en-GB" sz="2000" spc="-1" dirty="0"/>
              <a:t>The system is validated through real-time operation using HIL approach and hardware deployment.</a:t>
            </a:r>
            <a:endParaRPr lang="en-US" altLang="en-GB" sz="2000" b="0" strike="noStrike" spc="-1" dirty="0">
              <a:latin typeface="Arial" panose="020B0604020202020204"/>
            </a:endParaRPr>
          </a:p>
        </p:txBody>
      </p:sp>
      <p:sp>
        <p:nvSpPr>
          <p:cNvPr id="343" name="CustomShape 3"/>
          <p:cNvSpPr/>
          <p:nvPr/>
        </p:nvSpPr>
        <p:spPr>
          <a:xfrm>
            <a:off x="10665360" y="6289560"/>
            <a:ext cx="918000" cy="22176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551180" y="188595"/>
            <a:ext cx="9600565" cy="77851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90000"/>
              </a:lnSpc>
            </a:pPr>
            <a:r>
              <a:rPr lang="en-IN" sz="3200" b="1" strike="noStrike" spc="-1">
                <a:solidFill>
                  <a:srgbClr val="A43F27"/>
                </a:solidFill>
                <a:latin typeface="Arial" panose="020B0604020202020204"/>
              </a:rPr>
              <a:t>Detailed Description </a:t>
            </a:r>
            <a:r>
              <a:rPr lang="en-US" altLang="en-IN" sz="3200" b="1" strike="noStrike" spc="-1">
                <a:solidFill>
                  <a:srgbClr val="A43F27"/>
                </a:solidFill>
                <a:latin typeface="Arial" panose="020B0604020202020204"/>
              </a:rPr>
              <a:t>of the Project</a:t>
            </a:r>
          </a:p>
        </p:txBody>
      </p:sp>
      <p:sp>
        <p:nvSpPr>
          <p:cNvPr id="351" name="CustomShape 2"/>
          <p:cNvSpPr/>
          <p:nvPr/>
        </p:nvSpPr>
        <p:spPr>
          <a:xfrm>
            <a:off x="767080" y="1091565"/>
            <a:ext cx="10979785" cy="519874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/>
          <a:lstStyle/>
          <a:p>
            <a:pPr indent="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en-US" altLang="en-IN" sz="2800" b="1" strike="noStrike" spc="-1" dirty="0">
                <a:latin typeface="Arial" panose="020B0604020202020204"/>
              </a:rPr>
              <a:t>What is HIL ? .</a:t>
            </a:r>
            <a:br>
              <a:rPr lang="en-US" altLang="en-IN" sz="700" b="1" strike="noStrike" spc="-1" dirty="0">
                <a:latin typeface="Arial" panose="020B0604020202020204"/>
              </a:rPr>
            </a:br>
            <a:r>
              <a:rPr lang="en-US" altLang="en-IN" sz="700" b="1" strike="noStrike" spc="-1" dirty="0">
                <a:latin typeface="Arial" panose="020B0604020202020204"/>
              </a:rPr>
              <a:t> </a:t>
            </a:r>
            <a:br>
              <a:rPr lang="en-US" altLang="en-IN" sz="2800" b="0" strike="noStrike" spc="-1" dirty="0">
                <a:latin typeface="Arial" panose="020B0604020202020204"/>
              </a:rPr>
            </a:br>
            <a:r>
              <a:rPr lang="en-US" altLang="en-GB" sz="2000" b="0" strike="noStrike" spc="-1" dirty="0">
                <a:latin typeface="Arial" panose="020B0604020202020204"/>
              </a:rPr>
              <a:t>“HIL is a system where the plant (converter) is simulated, and the controller is tested in real time.”</a:t>
            </a:r>
            <a:br>
              <a:rPr lang="en-US" altLang="en-GB" sz="2000" b="0" strike="noStrike" spc="-1" dirty="0">
                <a:latin typeface="Arial" panose="020B0604020202020204"/>
              </a:rPr>
            </a:br>
            <a:br>
              <a:rPr lang="en-US" altLang="en-GB" sz="2000" b="0" strike="noStrike" spc="-1" dirty="0">
                <a:latin typeface="Arial" panose="020B0604020202020204"/>
              </a:rPr>
            </a:br>
            <a:r>
              <a:rPr lang="en-US" altLang="en-IN" sz="2800" b="1" spc="-1" dirty="0">
                <a:latin typeface="Arial" panose="020B0604020202020204"/>
                <a:sym typeface="+mn-ea"/>
              </a:rPr>
              <a:t>Why HIL for dc-dc conv? .</a:t>
            </a:r>
          </a:p>
          <a:p>
            <a:pPr marL="457200" indent="-4572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altLang="en-GB" sz="2000" b="1" spc="-1" dirty="0">
                <a:latin typeface="Arial" panose="020B0604020202020204"/>
                <a:sym typeface="+mn-ea"/>
              </a:rPr>
              <a:t>Safety:</a:t>
            </a:r>
            <a:r>
              <a:rPr lang="en-US" altLang="en-GB" sz="2000" spc="-1" dirty="0">
                <a:latin typeface="Arial" panose="020B0604020202020204"/>
                <a:sym typeface="+mn-ea"/>
              </a:rPr>
              <a:t> No risk to real hardware.</a:t>
            </a:r>
          </a:p>
          <a:p>
            <a:pPr marL="457200" indent="-4572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altLang="en-GB" sz="2000" b="1" spc="-1" dirty="0">
                <a:latin typeface="Arial" panose="020B0604020202020204"/>
                <a:sym typeface="+mn-ea"/>
              </a:rPr>
              <a:t>Cost-effective:</a:t>
            </a:r>
            <a:r>
              <a:rPr lang="en-US" altLang="en-GB" sz="2000" spc="-1" dirty="0">
                <a:latin typeface="Arial" panose="020B0604020202020204"/>
                <a:sym typeface="+mn-ea"/>
              </a:rPr>
              <a:t> Low cost compared to real time simulators (</a:t>
            </a:r>
            <a:r>
              <a:rPr lang="en-US" altLang="en-GB" sz="2000" spc="-1" dirty="0" err="1">
                <a:latin typeface="Arial" panose="020B0604020202020204"/>
                <a:sym typeface="+mn-ea"/>
              </a:rPr>
              <a:t>SpeedGoat</a:t>
            </a:r>
            <a:r>
              <a:rPr lang="en-US" altLang="en-GB" sz="2000" spc="-1" dirty="0">
                <a:latin typeface="Arial" panose="020B0604020202020204"/>
                <a:sym typeface="+mn-ea"/>
              </a:rPr>
              <a:t>/OPAL-RT).</a:t>
            </a:r>
          </a:p>
          <a:p>
            <a:pPr marL="457200" indent="-4572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altLang="en-GB" sz="2000" b="1" spc="-1" dirty="0">
                <a:latin typeface="Arial" panose="020B0604020202020204"/>
                <a:sym typeface="+mn-ea"/>
              </a:rPr>
              <a:t>Efficiency:</a:t>
            </a:r>
            <a:r>
              <a:rPr lang="en-US" altLang="en-GB" sz="2000" spc="-1" dirty="0">
                <a:latin typeface="Arial" panose="020B0604020202020204"/>
                <a:sym typeface="+mn-ea"/>
              </a:rPr>
              <a:t> Faster testing and parameter tuning.</a:t>
            </a:r>
          </a:p>
          <a:p>
            <a:pPr marL="457200" indent="-4572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altLang="en-GB" sz="2000" b="1" spc="-1" dirty="0">
                <a:latin typeface="Arial" panose="020B0604020202020204"/>
                <a:sym typeface="+mn-ea"/>
              </a:rPr>
              <a:t>Scalability:</a:t>
            </a:r>
            <a:r>
              <a:rPr lang="en-US" altLang="en-GB" sz="2000" spc="-1" dirty="0">
                <a:latin typeface="Arial" panose="020B0604020202020204"/>
                <a:sym typeface="+mn-ea"/>
              </a:rPr>
              <a:t> Useful across converters and industries and </a:t>
            </a:r>
            <a:r>
              <a:rPr lang="en-US" altLang="en-GB" sz="2000" b="1" spc="-1" dirty="0">
                <a:latin typeface="Arial" panose="020B0604020202020204"/>
                <a:sym typeface="+mn-ea"/>
              </a:rPr>
              <a:t>Real -time Feedback .</a:t>
            </a:r>
          </a:p>
          <a:p>
            <a:pPr marL="457200" indent="-4572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altLang="en-GB" sz="2000" b="1" dirty="0">
                <a:sym typeface="+mn-ea"/>
              </a:rPr>
              <a:t>Academic &amp; Industrial Relevance .</a:t>
            </a:r>
            <a:endParaRPr lang="en-US" altLang="en-GB" sz="2000" spc="-1" dirty="0">
              <a:latin typeface="Arial" panose="020B0604020202020204"/>
              <a:sym typeface="+mn-ea"/>
            </a:endParaRPr>
          </a:p>
          <a:p>
            <a:pPr indent="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en-US" altLang="en-GB" sz="2000" i="1" spc="-1" dirty="0">
                <a:latin typeface="Arial" panose="020B0604020202020204"/>
                <a:sym typeface="+mn-ea"/>
              </a:rPr>
              <a:t>In this project, HIL is specifically used to test and validate buck converter control in real-time before building actual hardware.</a:t>
            </a:r>
            <a:br>
              <a:rPr lang="en-US" altLang="en-IN" sz="2800" b="1" spc="-1" dirty="0">
                <a:latin typeface="Arial" panose="020B0604020202020204"/>
                <a:sym typeface="+mn-ea"/>
              </a:rPr>
            </a:br>
            <a:br>
              <a:rPr lang="en-US" altLang="en-GB" sz="2000" b="0" strike="noStrike" spc="-1" dirty="0">
                <a:latin typeface="Arial" panose="020B0604020202020204"/>
              </a:rPr>
            </a:br>
            <a:endParaRPr lang="en-US" altLang="en-GB" sz="2000" b="0" strike="noStrike" spc="-1" dirty="0">
              <a:latin typeface="Arial" panose="020B0604020202020204"/>
            </a:endParaRPr>
          </a:p>
        </p:txBody>
      </p:sp>
      <p:sp>
        <p:nvSpPr>
          <p:cNvPr id="352" name="CustomShape 3"/>
          <p:cNvSpPr/>
          <p:nvPr/>
        </p:nvSpPr>
        <p:spPr>
          <a:xfrm>
            <a:off x="10665360" y="6289560"/>
            <a:ext cx="918000" cy="22176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856515-3768-543E-E333-318F369E26DC}"/>
              </a:ext>
            </a:extLst>
          </p:cNvPr>
          <p:cNvSpPr txBox="1"/>
          <p:nvPr/>
        </p:nvSpPr>
        <p:spPr>
          <a:xfrm>
            <a:off x="2893141" y="104487"/>
            <a:ext cx="610091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" indent="0" algn="ctr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/>
              <a:buNone/>
            </a:pPr>
            <a:r>
              <a:rPr lang="en-US" altLang="en-GB" sz="2400" b="1" strike="noStrike" spc="-1" dirty="0">
                <a:latin typeface="Arial" panose="020B0604020202020204"/>
              </a:rPr>
              <a:t>Total Block Diagram of the Project :</a:t>
            </a:r>
            <a:endParaRPr lang="en-US" altLang="en-GB" b="1" strike="noStrike" spc="-1" dirty="0">
              <a:latin typeface="Arial" panose="020B060402020202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98D81B-8F77-8F75-3BE5-FF33F2CE3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2" y="529219"/>
            <a:ext cx="11503741" cy="63287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51114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C346C1-05C3-979F-DEAB-8FDC2872B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1" y="3136489"/>
            <a:ext cx="10050278" cy="311436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70EC793-3937-EDAF-1591-4A2AF0EA468D}"/>
              </a:ext>
            </a:extLst>
          </p:cNvPr>
          <p:cNvCxnSpPr/>
          <p:nvPr/>
        </p:nvCxnSpPr>
        <p:spPr>
          <a:xfrm flipV="1">
            <a:off x="0" y="3136490"/>
            <a:ext cx="12192000" cy="688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1A861FD-5608-73DC-1758-7668BFF9F10F}"/>
              </a:ext>
            </a:extLst>
          </p:cNvPr>
          <p:cNvSpPr txBox="1"/>
          <p:nvPr/>
        </p:nvSpPr>
        <p:spPr>
          <a:xfrm>
            <a:off x="2703871" y="6319683"/>
            <a:ext cx="67842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Closed-Loop Control Flow of Buck Converter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E9C1AD-12E0-2149-53C7-3D1D5C9F0F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232" y="56535"/>
            <a:ext cx="10050278" cy="2474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DF58FD-A155-FFBC-7AC4-D4F9C1F97F79}"/>
              </a:ext>
            </a:extLst>
          </p:cNvPr>
          <p:cNvSpPr txBox="1"/>
          <p:nvPr/>
        </p:nvSpPr>
        <p:spPr>
          <a:xfrm>
            <a:off x="2547409" y="2674375"/>
            <a:ext cx="8721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Hardware Block diagram of FPGA Controlled Buck Converter System</a:t>
            </a:r>
          </a:p>
          <a:p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83512-E4F2-53F2-90B9-D80880E36520}"/>
              </a:ext>
            </a:extLst>
          </p:cNvPr>
          <p:cNvSpPr txBox="1"/>
          <p:nvPr/>
        </p:nvSpPr>
        <p:spPr>
          <a:xfrm>
            <a:off x="0" y="1209368"/>
            <a:ext cx="1424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PWM_out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694242-B307-2B7B-36B7-099021AF6303}"/>
              </a:ext>
            </a:extLst>
          </p:cNvPr>
          <p:cNvSpPr txBox="1"/>
          <p:nvPr/>
        </p:nvSpPr>
        <p:spPr>
          <a:xfrm>
            <a:off x="5688389" y="1402241"/>
            <a:ext cx="1022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Scaled voltage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D97E8D-86FD-A238-57CA-3E285F885BCF}"/>
              </a:ext>
            </a:extLst>
          </p:cNvPr>
          <p:cNvSpPr txBox="1"/>
          <p:nvPr/>
        </p:nvSpPr>
        <p:spPr>
          <a:xfrm>
            <a:off x="9969910" y="1209368"/>
            <a:ext cx="100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V_out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4D5D9B-E052-42B2-748F-8615D3E74303}"/>
              </a:ext>
            </a:extLst>
          </p:cNvPr>
          <p:cNvSpPr txBox="1"/>
          <p:nvPr/>
        </p:nvSpPr>
        <p:spPr>
          <a:xfrm>
            <a:off x="8153294" y="1677024"/>
            <a:ext cx="100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V_out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5818A4-A398-790B-2FE0-40D93F57F731}"/>
              </a:ext>
            </a:extLst>
          </p:cNvPr>
          <p:cNvSpPr txBox="1"/>
          <p:nvPr/>
        </p:nvSpPr>
        <p:spPr>
          <a:xfrm>
            <a:off x="3213011" y="1402241"/>
            <a:ext cx="1317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Feedback signal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2034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CustomShape 1"/>
          <p:cNvSpPr/>
          <p:nvPr/>
        </p:nvSpPr>
        <p:spPr>
          <a:xfrm>
            <a:off x="728980" y="567690"/>
            <a:ext cx="9600565" cy="65468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90000"/>
              </a:lnSpc>
            </a:pPr>
            <a:br/>
            <a:r>
              <a:rPr lang="en-IN" sz="3200" b="1" strike="noStrike" spc="-1">
                <a:solidFill>
                  <a:srgbClr val="A43F27"/>
                </a:solidFill>
                <a:latin typeface="Arial" panose="020B0604020202020204"/>
              </a:rPr>
              <a:t>Equipment/Tools Required</a:t>
            </a:r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60" name="CustomShape 2"/>
          <p:cNvSpPr/>
          <p:nvPr/>
        </p:nvSpPr>
        <p:spPr>
          <a:xfrm>
            <a:off x="1055370" y="1547106"/>
            <a:ext cx="10527990" cy="579818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/>
          <a:lstStyle/>
          <a:p>
            <a:pPr marL="635" indent="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 pitchFamily="34" charset="0"/>
              <a:buNone/>
            </a:pPr>
            <a:r>
              <a:rPr lang="en-US" altLang="en-GB" sz="2400" b="1" strike="noStrike" spc="-1" dirty="0">
                <a:latin typeface="Arial" panose="020B0604020202020204"/>
              </a:rPr>
              <a:t>Tools and Technologies Required :</a:t>
            </a:r>
          </a:p>
          <a:p>
            <a:pPr marL="343535" indent="-3429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Wingdings" panose="05000000000000000000" charset="0"/>
              <a:buChar char="§"/>
            </a:pPr>
            <a:r>
              <a:rPr lang="en-US" altLang="en-GB" sz="2000" b="1" spc="-1" dirty="0"/>
              <a:t>MATLAB &amp; Simulink – </a:t>
            </a:r>
            <a:r>
              <a:rPr lang="en-US" altLang="en-GB" sz="2000" spc="-1" dirty="0"/>
              <a:t>Modeling and PI control design</a:t>
            </a:r>
          </a:p>
          <a:p>
            <a:pPr marL="343535" indent="-3429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Wingdings" panose="05000000000000000000" charset="0"/>
              <a:buChar char="§"/>
            </a:pPr>
            <a:r>
              <a:rPr lang="en-US" altLang="en-GB" sz="2000" b="1" spc="-1" dirty="0" err="1"/>
              <a:t>Simscape</a:t>
            </a:r>
            <a:r>
              <a:rPr lang="en-US" altLang="en-GB" sz="2000" b="1" spc="-1" dirty="0"/>
              <a:t> Electrical – </a:t>
            </a:r>
            <a:r>
              <a:rPr lang="en-US" altLang="en-GB" sz="2000" spc="-1" dirty="0"/>
              <a:t>Buck converter simulation</a:t>
            </a:r>
          </a:p>
          <a:p>
            <a:pPr marL="343535" indent="-3429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Wingdings" panose="05000000000000000000" charset="0"/>
              <a:buChar char="§"/>
            </a:pPr>
            <a:r>
              <a:rPr lang="en-US" altLang="en-GB" sz="2000" b="1" spc="-1" dirty="0"/>
              <a:t>HDL Workflow Advisor – </a:t>
            </a:r>
            <a:r>
              <a:rPr lang="en-US" altLang="en-GB" sz="2000" spc="-1" dirty="0"/>
              <a:t>FPGA IP generation</a:t>
            </a:r>
          </a:p>
          <a:p>
            <a:pPr marL="343535" indent="-3429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Wingdings" panose="05000000000000000000" charset="0"/>
              <a:buChar char="§"/>
            </a:pPr>
            <a:r>
              <a:rPr lang="en-US" altLang="en-GB" sz="2000" b="1" spc="-1" dirty="0"/>
              <a:t>Xilinx </a:t>
            </a:r>
            <a:r>
              <a:rPr lang="en-US" altLang="en-GB" sz="2000" b="1" spc="-1" dirty="0" err="1"/>
              <a:t>Vivado</a:t>
            </a:r>
            <a:r>
              <a:rPr lang="en-US" altLang="en-GB" sz="2000" b="1" spc="-1" dirty="0"/>
              <a:t> – </a:t>
            </a:r>
            <a:r>
              <a:rPr lang="en-US" altLang="en-GB" sz="2000" spc="-1" dirty="0"/>
              <a:t>Synthesis, implementation &amp; bitstream</a:t>
            </a:r>
          </a:p>
          <a:p>
            <a:pPr marL="343535" indent="-3429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Wingdings" panose="05000000000000000000" charset="0"/>
              <a:buChar char="§"/>
            </a:pPr>
            <a:r>
              <a:rPr lang="en-US" altLang="en-GB" sz="2000" b="1" spc="-1" dirty="0" err="1"/>
              <a:t>ZedBoard</a:t>
            </a:r>
            <a:r>
              <a:rPr lang="en-US" altLang="en-GB" sz="2000" b="1" spc="-1" dirty="0"/>
              <a:t> (Zynq-7000) – </a:t>
            </a:r>
            <a:r>
              <a:rPr lang="en-US" altLang="en-GB" sz="2000" spc="-1" dirty="0"/>
              <a:t>Real-time control platform</a:t>
            </a:r>
          </a:p>
          <a:p>
            <a:pPr marL="343535" indent="-3429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Wingdings" panose="05000000000000000000" charset="0"/>
              <a:buChar char="§"/>
            </a:pPr>
            <a:r>
              <a:rPr lang="en-US" altLang="en-GB" sz="2000" b="1" spc="-1" dirty="0"/>
              <a:t>Buck Converter Hardware Kit (Pre-built) – </a:t>
            </a:r>
            <a:r>
              <a:rPr lang="en-US" altLang="en-GB" sz="2000" spc="-1" dirty="0"/>
              <a:t>Experimental validation</a:t>
            </a:r>
          </a:p>
          <a:p>
            <a:pPr marL="343535" indent="-3429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Wingdings" panose="05000000000000000000" charset="0"/>
              <a:buChar char="§"/>
            </a:pPr>
            <a:r>
              <a:rPr lang="en-US" altLang="en-GB" sz="2000" b="1" spc="-1" dirty="0"/>
              <a:t>Digital Storage Oscilloscope (DSO) – </a:t>
            </a:r>
            <a:r>
              <a:rPr lang="en-US" altLang="en-GB" sz="2000" spc="-1" dirty="0"/>
              <a:t>PWM &amp; output waveform observation</a:t>
            </a:r>
            <a:endParaRPr lang="en-US" altLang="en-GB" sz="2000" strike="noStrike" spc="-1" dirty="0">
              <a:latin typeface="Arial" panose="020B0604020202020204"/>
            </a:endParaRPr>
          </a:p>
        </p:txBody>
      </p:sp>
      <p:sp>
        <p:nvSpPr>
          <p:cNvPr id="361" name="CustomShape 3"/>
          <p:cNvSpPr/>
          <p:nvPr/>
        </p:nvSpPr>
        <p:spPr>
          <a:xfrm>
            <a:off x="10665360" y="6289560"/>
            <a:ext cx="918000" cy="22176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CustomShape 1"/>
          <p:cNvSpPr/>
          <p:nvPr/>
        </p:nvSpPr>
        <p:spPr>
          <a:xfrm>
            <a:off x="982980" y="504190"/>
            <a:ext cx="9600565" cy="71691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90000"/>
              </a:lnSpc>
            </a:pPr>
            <a:r>
              <a:rPr lang="en-IN" sz="3200" b="1" strike="noStrike" spc="-1">
                <a:solidFill>
                  <a:srgbClr val="A43F27"/>
                </a:solidFill>
                <a:latin typeface="Arial" panose="020B0604020202020204"/>
              </a:rPr>
              <a:t>Implementation Details</a:t>
            </a:r>
            <a:endParaRPr lang="en-IN" sz="3200" b="0" strike="noStrike" spc="-1">
              <a:latin typeface="Arial" panose="020B0604020202020204"/>
            </a:endParaRPr>
          </a:p>
        </p:txBody>
      </p:sp>
      <p:grpSp>
        <p:nvGrpSpPr>
          <p:cNvPr id="370" name="Group 9"/>
          <p:cNvGrpSpPr/>
          <p:nvPr/>
        </p:nvGrpSpPr>
        <p:grpSpPr>
          <a:xfrm>
            <a:off x="0" y="0"/>
            <a:ext cx="36000" cy="36000"/>
            <a:chOff x="0" y="0"/>
            <a:chExt cx="36000" cy="36000"/>
          </a:xfrm>
        </p:grpSpPr>
      </p:grpSp>
      <p:sp>
        <p:nvSpPr>
          <p:cNvPr id="371" name="CustomShape 10"/>
          <p:cNvSpPr/>
          <p:nvPr/>
        </p:nvSpPr>
        <p:spPr>
          <a:xfrm>
            <a:off x="10665360" y="6289560"/>
            <a:ext cx="918000" cy="22176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" name="Text Box 1"/>
          <p:cNvSpPr txBox="1"/>
          <p:nvPr/>
        </p:nvSpPr>
        <p:spPr>
          <a:xfrm>
            <a:off x="1073785" y="1430655"/>
            <a:ext cx="1062660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000" b="1" dirty="0"/>
              <a:t>Phase-1 : </a:t>
            </a:r>
            <a:r>
              <a:rPr lang="en-US" altLang="en-GB" sz="2000" b="1" dirty="0" err="1"/>
              <a:t>Simscape</a:t>
            </a:r>
            <a:r>
              <a:rPr lang="en-US" altLang="en-GB" sz="2000" b="1" dirty="0"/>
              <a:t> Modeling of Buck Converter.</a:t>
            </a:r>
          </a:p>
          <a:p>
            <a:endParaRPr lang="en-US" altLang="en-GB" sz="2000" b="1" dirty="0"/>
          </a:p>
          <a:p>
            <a:r>
              <a:rPr lang="en-US" altLang="en-GB" sz="2000" b="1" dirty="0"/>
              <a:t>Phase-2 : PI Controller Design &amp; PWM Logic Development</a:t>
            </a:r>
          </a:p>
          <a:p>
            <a:endParaRPr lang="en-US" altLang="en-GB" sz="2000" b="1" dirty="0"/>
          </a:p>
          <a:p>
            <a:r>
              <a:rPr lang="en-US" altLang="en-GB" sz="2000" b="1" dirty="0"/>
              <a:t>Phase-3 : Discrete Conversion + Fixed-Point Conversion(</a:t>
            </a:r>
            <a:r>
              <a:rPr lang="en-US" altLang="en-GB" sz="2000" b="1" dirty="0" err="1"/>
              <a:t>fixdt</a:t>
            </a:r>
            <a:r>
              <a:rPr lang="en-US" altLang="en-GB" sz="2000" b="1" dirty="0"/>
              <a:t>(1,16))</a:t>
            </a:r>
          </a:p>
          <a:p>
            <a:endParaRPr lang="en-US" altLang="en-GB" sz="2000" b="1" dirty="0"/>
          </a:p>
          <a:p>
            <a:r>
              <a:rPr lang="en-US" altLang="en-GB" sz="2000" b="1" dirty="0"/>
              <a:t>Phase-4 : HDL Workflow – FPGA IP Core Generation of Controller and PWM</a:t>
            </a:r>
          </a:p>
          <a:p>
            <a:endParaRPr lang="en-US" altLang="en-GB" sz="2000" b="1" dirty="0"/>
          </a:p>
          <a:p>
            <a:r>
              <a:rPr lang="en-US" altLang="en-GB" sz="2000" b="1" dirty="0"/>
              <a:t>Phase-5 : </a:t>
            </a:r>
            <a:r>
              <a:rPr lang="en-US" altLang="en-GB" sz="2000" b="1" dirty="0" err="1"/>
              <a:t>Vivado</a:t>
            </a:r>
            <a:r>
              <a:rPr lang="en-US" altLang="en-GB" sz="2000" b="1" dirty="0"/>
              <a:t> IP Integration , Synthesis , Implementation and Bitstream Generation</a:t>
            </a:r>
          </a:p>
          <a:p>
            <a:endParaRPr lang="en-US" altLang="en-GB" sz="2000" b="1" dirty="0"/>
          </a:p>
          <a:p>
            <a:r>
              <a:rPr lang="en-US" altLang="en-GB" sz="2000" b="1" dirty="0"/>
              <a:t>Phase-6 : FPGA Deployment on Zynq-7000 (Hardware Testing).</a:t>
            </a:r>
          </a:p>
          <a:p>
            <a:endParaRPr lang="en-US" altLang="en-GB" sz="2000" b="1" dirty="0"/>
          </a:p>
          <a:p>
            <a:r>
              <a:rPr lang="en-US" altLang="en-GB" sz="2000" b="1" dirty="0"/>
              <a:t>Phase-7 : Closed Loop Hardware  Validation and Final Demonstration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CustomShape 1"/>
          <p:cNvSpPr/>
          <p:nvPr/>
        </p:nvSpPr>
        <p:spPr>
          <a:xfrm>
            <a:off x="431165" y="191135"/>
            <a:ext cx="9600565" cy="73025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90000"/>
              </a:lnSpc>
            </a:pPr>
            <a:r>
              <a:rPr lang="en-US" altLang="en-IN" sz="3200" b="1" strike="noStrike" spc="-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Simulations and Results:</a:t>
            </a:r>
          </a:p>
        </p:txBody>
      </p:sp>
      <p:sp>
        <p:nvSpPr>
          <p:cNvPr id="383" name="CustomShape 2"/>
          <p:cNvSpPr/>
          <p:nvPr/>
        </p:nvSpPr>
        <p:spPr>
          <a:xfrm>
            <a:off x="488950" y="1089025"/>
            <a:ext cx="10960735" cy="479679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/>
          <a:lstStyle/>
          <a:p>
            <a:pPr marL="635" indent="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 panose="020B0604020202020204"/>
              <a:buNone/>
            </a:pPr>
            <a:r>
              <a:rPr lang="en-US" sz="2400" b="1" strike="noStrike" spc="-1">
                <a:latin typeface="Times New Roman" panose="02020603050405020304" charset="0"/>
                <a:cs typeface="Times New Roman" panose="02020603050405020304" charset="0"/>
              </a:rPr>
              <a:t>Common Digital PI Controller Architecture:</a:t>
            </a:r>
          </a:p>
        </p:txBody>
      </p:sp>
      <p:sp>
        <p:nvSpPr>
          <p:cNvPr id="384" name="CustomShape 3"/>
          <p:cNvSpPr/>
          <p:nvPr/>
        </p:nvSpPr>
        <p:spPr>
          <a:xfrm>
            <a:off x="10665360" y="6289560"/>
            <a:ext cx="918000" cy="22176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" descr="controll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9730"/>
            <a:ext cx="12192000" cy="520827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w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745" y="0"/>
            <a:ext cx="8872220" cy="28124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5885" y="808990"/>
            <a:ext cx="27146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400" b="1"/>
              <a:t>PWM Generator 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745" y="2813050"/>
            <a:ext cx="8538210" cy="39878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82245" y="4331335"/>
            <a:ext cx="27146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400" b="1"/>
              <a:t>PWM Waveform: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uck_ck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855" y="0"/>
            <a:ext cx="7637145" cy="339280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47320" y="344170"/>
            <a:ext cx="49206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400" b="1"/>
              <a:t>BUCK CIRCUIT: (Step-Down)</a:t>
            </a:r>
          </a:p>
        </p:txBody>
      </p:sp>
      <p:pic>
        <p:nvPicPr>
          <p:cNvPr id="3" name="Picture 2" descr="buck_outfor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220" y="3392805"/>
            <a:ext cx="6988175" cy="344678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0" y="1808480"/>
            <a:ext cx="4476115" cy="39306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GB"/>
              <a:t>1. The buck converter steps down the input voltage using PWM-controlled switching.</a:t>
            </a:r>
          </a:p>
          <a:p>
            <a:endParaRPr lang="en-US" altLang="en-GB"/>
          </a:p>
          <a:p>
            <a:r>
              <a:rPr lang="en-US" altLang="en-GB"/>
              <a:t>2. Output voltage rises until it matches the reference, then settles as the PI controller adjusts the duty cycle.</a:t>
            </a:r>
          </a:p>
          <a:p>
            <a:endParaRPr lang="en-US" altLang="en-GB"/>
          </a:p>
          <a:p>
            <a:r>
              <a:rPr lang="en-US" altLang="en-GB"/>
              <a:t>3. Inductor current ripple reduces as the system reaches steady state (CCM in your sims).</a:t>
            </a:r>
          </a:p>
          <a:p>
            <a:endParaRPr lang="en-US" altLang="en-GB"/>
          </a:p>
          <a:p>
            <a:r>
              <a:rPr lang="en-US" altLang="en-GB"/>
              <a:t>4. Voltage ripple is small because the LC filter smooths the switching waveform.</a:t>
            </a:r>
            <a:endParaRPr lang="en-GB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607060" y="1207135"/>
            <a:ext cx="2686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/>
              <a:t>V_out = D.V_in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CD6855-0E1B-FDA3-2C03-E090F32D4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8" y="605257"/>
            <a:ext cx="11198943" cy="625274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3F01A4-6660-F5B8-B24F-E22C9E1DD070}"/>
              </a:ext>
            </a:extLst>
          </p:cNvPr>
          <p:cNvSpPr txBox="1"/>
          <p:nvPr/>
        </p:nvSpPr>
        <p:spPr>
          <a:xfrm>
            <a:off x="3490450" y="91869"/>
            <a:ext cx="5211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u="sng" dirty="0"/>
              <a:t>VIVADO FLOW CHART</a:t>
            </a:r>
            <a:endParaRPr lang="en-IN" sz="2800" b="1" u="sng" dirty="0"/>
          </a:p>
        </p:txBody>
      </p:sp>
    </p:spTree>
    <p:extLst>
      <p:ext uri="{BB962C8B-B14F-4D97-AF65-F5344CB8AC3E}">
        <p14:creationId xmlns:p14="http://schemas.microsoft.com/office/powerpoint/2010/main" val="2806809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AEBF2B-B0F4-9343-0579-C024028F1FB3}"/>
              </a:ext>
            </a:extLst>
          </p:cNvPr>
          <p:cNvSpPr txBox="1"/>
          <p:nvPr/>
        </p:nvSpPr>
        <p:spPr>
          <a:xfrm>
            <a:off x="68826" y="47248"/>
            <a:ext cx="12054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err="1"/>
              <a:t>Vivado</a:t>
            </a:r>
            <a:r>
              <a:rPr lang="en-GB" sz="2400" b="1" dirty="0"/>
              <a:t> Block Design of Controller and PWM IP Integration on Zynq-7000 : </a:t>
            </a: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274AB1-8777-D5CC-267C-65977A07B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912"/>
            <a:ext cx="12192000" cy="634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374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65CB17-EB0D-5FD0-0749-7F3ABE5F0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564" y="1047303"/>
            <a:ext cx="4420207" cy="37825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742408-8C2C-6476-F7EC-D712C7436BE0}"/>
              </a:ext>
            </a:extLst>
          </p:cNvPr>
          <p:cNvSpPr txBox="1"/>
          <p:nvPr/>
        </p:nvSpPr>
        <p:spPr>
          <a:xfrm>
            <a:off x="90949" y="404197"/>
            <a:ext cx="6100916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FPGA Resource Utilization Report :         </a:t>
            </a:r>
            <a:r>
              <a:rPr lang="en-IN" dirty="0"/>
              <a:t>{ </a:t>
            </a:r>
            <a:r>
              <a:rPr lang="en-IN" dirty="0">
                <a:hlinkClick r:id="rId3"/>
              </a:rPr>
              <a:t>report_link </a:t>
            </a:r>
            <a:r>
              <a:rPr lang="en-IN" dirty="0"/>
              <a:t>}</a:t>
            </a:r>
          </a:p>
          <a:p>
            <a:r>
              <a:rPr lang="en-IN" sz="1100" b="1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900" b="1" dirty="0"/>
              <a:t>Slice LUTs</a:t>
            </a:r>
            <a:r>
              <a:rPr lang="en-IN" sz="1900" dirty="0"/>
              <a:t>: 566 / 53200 (1.06%)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900" b="1" dirty="0"/>
              <a:t>Slice Registers</a:t>
            </a:r>
            <a:r>
              <a:rPr lang="en-IN" sz="1900" dirty="0"/>
              <a:t>: 776 / 106400 (0.73%)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900" b="1" dirty="0"/>
              <a:t>Timing Slack (WNS): </a:t>
            </a:r>
            <a:r>
              <a:rPr lang="en-IN" sz="1900" dirty="0"/>
              <a:t>+3.033 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900" b="1" dirty="0"/>
              <a:t>Target Clock</a:t>
            </a:r>
            <a:r>
              <a:rPr lang="en-IN" sz="1900" dirty="0"/>
              <a:t>: 100 MHz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900" b="1" dirty="0"/>
              <a:t>Timing Constraints</a:t>
            </a:r>
            <a:r>
              <a:rPr lang="en-IN" sz="1900" dirty="0"/>
              <a:t>: Successfully Met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5086ED-AAB6-5910-260C-AFEF641062C6}"/>
              </a:ext>
            </a:extLst>
          </p:cNvPr>
          <p:cNvSpPr txBox="1"/>
          <p:nvPr/>
        </p:nvSpPr>
        <p:spPr>
          <a:xfrm>
            <a:off x="90949" y="2938600"/>
            <a:ext cx="5896896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Timing Analysis Result:  </a:t>
            </a:r>
            <a:r>
              <a:rPr lang="en-IN" dirty="0"/>
              <a:t>{</a:t>
            </a:r>
            <a:r>
              <a:rPr lang="en-IN" sz="2400" dirty="0"/>
              <a:t> </a:t>
            </a:r>
            <a:r>
              <a:rPr lang="en-IN" dirty="0">
                <a:hlinkClick r:id="rId4"/>
              </a:rPr>
              <a:t>report_link </a:t>
            </a:r>
            <a:r>
              <a:rPr lang="en-IN" dirty="0"/>
              <a:t>}</a:t>
            </a:r>
            <a:br>
              <a:rPr lang="en-IN" sz="2400" b="1" dirty="0"/>
            </a:br>
            <a:endParaRPr lang="en-IN" sz="14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1900" b="1" dirty="0"/>
              <a:t>Target Clock Frequency</a:t>
            </a:r>
            <a:r>
              <a:rPr lang="en-IN" sz="1900" dirty="0"/>
              <a:t>: 100 MHz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1900" b="1" dirty="0"/>
              <a:t>Worst Negative Slack (WNS): </a:t>
            </a:r>
            <a:r>
              <a:rPr lang="en-IN" sz="1900" dirty="0"/>
              <a:t>+3.033 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1900" b="1" dirty="0"/>
              <a:t>Timing Status</a:t>
            </a:r>
            <a:r>
              <a:rPr lang="en-IN" sz="1900" dirty="0"/>
              <a:t>: Constraints met successfully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1900" dirty="0"/>
              <a:t>Design operates reliably within required timing limits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866D83-9F35-3086-3F19-C744168F6C7F}"/>
              </a:ext>
            </a:extLst>
          </p:cNvPr>
          <p:cNvSpPr txBox="1"/>
          <p:nvPr/>
        </p:nvSpPr>
        <p:spPr>
          <a:xfrm>
            <a:off x="90949" y="5200758"/>
            <a:ext cx="5896895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00" dirty="0"/>
              <a:t>Hence, The design utilizes less than 2% of FPGA resources, leaving sufficient margin for scaling and future integration.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47A085-96F2-7D26-52FD-70A9142286EF}"/>
              </a:ext>
            </a:extLst>
          </p:cNvPr>
          <p:cNvSpPr txBox="1"/>
          <p:nvPr/>
        </p:nvSpPr>
        <p:spPr>
          <a:xfrm>
            <a:off x="6096000" y="142119"/>
            <a:ext cx="5810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Bitstream generation Status for hardware :</a:t>
            </a:r>
            <a:endParaRPr lang="en-IN" sz="24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171437-A806-4AF9-A0A5-54683CBB3E77}"/>
              </a:ext>
            </a:extLst>
          </p:cNvPr>
          <p:cNvCxnSpPr>
            <a:cxnSpLocks/>
          </p:cNvCxnSpPr>
          <p:nvPr/>
        </p:nvCxnSpPr>
        <p:spPr>
          <a:xfrm>
            <a:off x="6096000" y="275302"/>
            <a:ext cx="0" cy="5894952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AA28C69-3D2E-3162-9495-6A31D2F67DCC}"/>
              </a:ext>
            </a:extLst>
          </p:cNvPr>
          <p:cNvSpPr txBox="1"/>
          <p:nvPr/>
        </p:nvSpPr>
        <p:spPr>
          <a:xfrm>
            <a:off x="6276822" y="4908370"/>
            <a:ext cx="5716074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Synthesis completed successfully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Implementation completed without critical errors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Bitstream generated for Zed Board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Design ready for hardware verification</a:t>
            </a:r>
          </a:p>
        </p:txBody>
      </p:sp>
    </p:spTree>
    <p:extLst>
      <p:ext uri="{BB962C8B-B14F-4D97-AF65-F5344CB8AC3E}">
        <p14:creationId xmlns:p14="http://schemas.microsoft.com/office/powerpoint/2010/main" val="3488804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16B6D2-A1FF-5319-84DB-477ED1469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832" y="844345"/>
            <a:ext cx="7610168" cy="51693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CE5356-EBFB-4554-826E-25A41B35BE33}"/>
              </a:ext>
            </a:extLst>
          </p:cNvPr>
          <p:cNvSpPr txBox="1"/>
          <p:nvPr/>
        </p:nvSpPr>
        <p:spPr>
          <a:xfrm>
            <a:off x="235974" y="452284"/>
            <a:ext cx="4070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LED Verification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724756-E439-61EA-E417-38C6821E1AEB}"/>
              </a:ext>
            </a:extLst>
          </p:cNvPr>
          <p:cNvSpPr txBox="1"/>
          <p:nvPr/>
        </p:nvSpPr>
        <p:spPr>
          <a:xfrm>
            <a:off x="235974" y="1351508"/>
            <a:ext cx="446384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Before connecting to hardware, </a:t>
            </a:r>
          </a:p>
          <a:p>
            <a:endParaRPr lang="en-GB" sz="2400" dirty="0"/>
          </a:p>
          <a:p>
            <a:r>
              <a:rPr lang="en-GB" sz="2400" dirty="0"/>
              <a:t>PWM signal is verified using onboard LEDs. </a:t>
            </a:r>
          </a:p>
          <a:p>
            <a:r>
              <a:rPr lang="en-GB" sz="2400" dirty="0"/>
              <a:t>• Low frequency → LED blinking</a:t>
            </a:r>
          </a:p>
          <a:p>
            <a:r>
              <a:rPr lang="en-GB" sz="2400" dirty="0"/>
              <a:t> • High frequency → LED brightness variation </a:t>
            </a:r>
          </a:p>
          <a:p>
            <a:endParaRPr lang="en-GB" sz="2400" dirty="0"/>
          </a:p>
          <a:p>
            <a:r>
              <a:rPr lang="en-GB" sz="2400" dirty="0"/>
              <a:t>This confirms correct PWM generation.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75135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D72F8F-EB1A-55A1-9473-27AED7C30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476" y="2699144"/>
            <a:ext cx="4911524" cy="30525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FBC1AE-9603-4720-7847-DBBDACDA8D60}"/>
              </a:ext>
            </a:extLst>
          </p:cNvPr>
          <p:cNvSpPr txBox="1"/>
          <p:nvPr/>
        </p:nvSpPr>
        <p:spPr>
          <a:xfrm>
            <a:off x="648927" y="439760"/>
            <a:ext cx="1109078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00" b="1" dirty="0"/>
              <a:t>OPEN-LOOP BUCK CONVERTER HARDWARE SETUP AND RESULTS</a:t>
            </a:r>
            <a:endParaRPr lang="en-IN" sz="2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E7A983-F9E0-5136-838B-1109A864AFD6}"/>
              </a:ext>
            </a:extLst>
          </p:cNvPr>
          <p:cNvSpPr txBox="1"/>
          <p:nvPr/>
        </p:nvSpPr>
        <p:spPr>
          <a:xfrm>
            <a:off x="953729" y="1215509"/>
            <a:ext cx="102845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In open-loop operation, the duty cycle is varied manually, and the corresponding output voltage is measured. </a:t>
            </a:r>
            <a:endParaRPr lang="en-IN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80CBE2-2851-5391-59A8-08597A65E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61" y="2587106"/>
            <a:ext cx="6665802" cy="38943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73C511C-95A9-7851-1CAE-62A09270B778}"/>
              </a:ext>
            </a:extLst>
          </p:cNvPr>
          <p:cNvSpPr txBox="1"/>
          <p:nvPr/>
        </p:nvSpPr>
        <p:spPr>
          <a:xfrm>
            <a:off x="1474839" y="2192594"/>
            <a:ext cx="4621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Open-Loop Performance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57869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9D485B-5AA2-E792-D5D4-5669BC80B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5258"/>
            <a:ext cx="4109884" cy="38133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FAFB95-087D-51C0-D3D0-2799A069A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395" y="0"/>
            <a:ext cx="3813002" cy="38070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611B74-191F-D42D-B11B-F0C5090737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232" y="3611000"/>
            <a:ext cx="6695768" cy="324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9E05E1-55E2-75C0-32DE-29856D191598}"/>
              </a:ext>
            </a:extLst>
          </p:cNvPr>
          <p:cNvSpPr txBox="1"/>
          <p:nvPr/>
        </p:nvSpPr>
        <p:spPr>
          <a:xfrm>
            <a:off x="8042789" y="530942"/>
            <a:ext cx="381300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OPEN LOOP </a:t>
            </a:r>
            <a:r>
              <a:rPr lang="en-IN" sz="2000" b="1" dirty="0"/>
              <a:t>Characteristics :</a:t>
            </a:r>
            <a:endParaRPr lang="en-GB" sz="2000" b="1" dirty="0"/>
          </a:p>
          <a:p>
            <a:endParaRPr lang="en-GB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000" dirty="0"/>
              <a:t>Duty Cycle(%) Vs </a:t>
            </a:r>
            <a:r>
              <a:rPr lang="en-GB" sz="2000" dirty="0" err="1"/>
              <a:t>Votage</a:t>
            </a:r>
            <a:r>
              <a:rPr lang="en-GB" sz="2000" dirty="0"/>
              <a:t>(V)</a:t>
            </a:r>
          </a:p>
          <a:p>
            <a:r>
              <a:rPr lang="en-GB" sz="2000" dirty="0"/>
              <a:t>     (Measured and Expected)</a:t>
            </a:r>
          </a:p>
          <a:p>
            <a:endParaRPr lang="en-GB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000" dirty="0"/>
              <a:t>Error(%) Vs Duty Cycle(%)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26689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AB3AF6-C683-899B-6B3A-63EE4FD6F781}"/>
              </a:ext>
            </a:extLst>
          </p:cNvPr>
          <p:cNvSpPr txBox="1"/>
          <p:nvPr/>
        </p:nvSpPr>
        <p:spPr>
          <a:xfrm>
            <a:off x="570271" y="286435"/>
            <a:ext cx="1112028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600" b="1" dirty="0"/>
              <a:t>CLOSED-LOOP BUCK CONVERTER HARDWARE SETUP AND RESULTS</a:t>
            </a:r>
            <a:endParaRPr lang="en-IN" sz="2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1D1B79-BEDF-9998-E307-6C6C6F8102E4}"/>
              </a:ext>
            </a:extLst>
          </p:cNvPr>
          <p:cNvSpPr txBox="1"/>
          <p:nvPr/>
        </p:nvSpPr>
        <p:spPr>
          <a:xfrm>
            <a:off x="904568" y="1554137"/>
            <a:ext cx="10648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 closed-loop operation, feedback is used to regulate the output voltage to a desired reference value.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C55C69-F0EE-CD6D-9522-F5D9BD60F0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376" y="2406774"/>
            <a:ext cx="5010736" cy="37580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E844E1-D652-FF5A-1CC3-F3AD55804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19" y="2591440"/>
            <a:ext cx="6549757" cy="36621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4DEAD4-82F1-C0E2-6FD7-877F75F52BC3}"/>
              </a:ext>
            </a:extLst>
          </p:cNvPr>
          <p:cNvSpPr txBox="1"/>
          <p:nvPr/>
        </p:nvSpPr>
        <p:spPr>
          <a:xfrm>
            <a:off x="1019112" y="2222108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Closed-Loop Performance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41431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63B0EA-DF6F-FBB5-3ACF-04EB96CF1B73}"/>
              </a:ext>
            </a:extLst>
          </p:cNvPr>
          <p:cNvSpPr txBox="1"/>
          <p:nvPr/>
        </p:nvSpPr>
        <p:spPr>
          <a:xfrm>
            <a:off x="2804652" y="198792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Closed-Loop Characteristics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44D62C-43A0-DEA1-704F-893A7FAD056E}"/>
              </a:ext>
            </a:extLst>
          </p:cNvPr>
          <p:cNvSpPr txBox="1"/>
          <p:nvPr/>
        </p:nvSpPr>
        <p:spPr>
          <a:xfrm>
            <a:off x="513735" y="934515"/>
            <a:ext cx="110883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In closed-loop operation, the output voltage remains close to the reference value, demonstrating effective voltage regulation.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382331-ED5D-5006-9A16-035E3FAE3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24902"/>
            <a:ext cx="6140980" cy="43718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3DCE6F-A17D-E513-90E7-0FEC530D84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025" y="1972456"/>
            <a:ext cx="627697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617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FADACF-FB56-3233-65AB-3D8A38845F25}"/>
              </a:ext>
            </a:extLst>
          </p:cNvPr>
          <p:cNvSpPr txBox="1"/>
          <p:nvPr/>
        </p:nvSpPr>
        <p:spPr>
          <a:xfrm>
            <a:off x="511278" y="511277"/>
            <a:ext cx="4277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u="sng" dirty="0"/>
              <a:t>Comparison Table </a:t>
            </a:r>
            <a:endParaRPr lang="en-IN" sz="24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83949AB-64F2-8223-4F2D-E79689FA3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99905"/>
              </p:ext>
            </p:extLst>
          </p:nvPr>
        </p:nvGraphicFramePr>
        <p:xfrm>
          <a:off x="353962" y="1260440"/>
          <a:ext cx="5604387" cy="47569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68129">
                  <a:extLst>
                    <a:ext uri="{9D8B030D-6E8A-4147-A177-3AD203B41FA5}">
                      <a16:colId xmlns:a16="http://schemas.microsoft.com/office/drawing/2014/main" val="4146313290"/>
                    </a:ext>
                  </a:extLst>
                </a:gridCol>
                <a:gridCol w="1868129">
                  <a:extLst>
                    <a:ext uri="{9D8B030D-6E8A-4147-A177-3AD203B41FA5}">
                      <a16:colId xmlns:a16="http://schemas.microsoft.com/office/drawing/2014/main" val="1231898483"/>
                    </a:ext>
                  </a:extLst>
                </a:gridCol>
                <a:gridCol w="1868129">
                  <a:extLst>
                    <a:ext uri="{9D8B030D-6E8A-4147-A177-3AD203B41FA5}">
                      <a16:colId xmlns:a16="http://schemas.microsoft.com/office/drawing/2014/main" val="2669009356"/>
                    </a:ext>
                  </a:extLst>
                </a:gridCol>
              </a:tblGrid>
              <a:tr h="95138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Parameter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Open Loop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Closed Loop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9569523"/>
                  </a:ext>
                </a:extLst>
              </a:tr>
              <a:tr h="95138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Control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No feedback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PI feedback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9897912"/>
                  </a:ext>
                </a:extLst>
              </a:tr>
              <a:tr h="95138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Error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~ 16 %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~ 6-10 %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2496099"/>
                  </a:ext>
                </a:extLst>
              </a:tr>
              <a:tr h="95138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Stability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Poor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Good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5316587"/>
                  </a:ext>
                </a:extLst>
              </a:tr>
              <a:tr h="95138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Accuracy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Low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High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0295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7E8308D-A270-B982-DFF5-662837478321}"/>
              </a:ext>
            </a:extLst>
          </p:cNvPr>
          <p:cNvSpPr txBox="1"/>
          <p:nvPr/>
        </p:nvSpPr>
        <p:spPr>
          <a:xfrm>
            <a:off x="6764591" y="1084345"/>
            <a:ext cx="486696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FPGA-based control works effectively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Closed-loop improves performance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Real-time implementation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The system demonstrates reliable real-time performance on FPGA hardware.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C3271C-2FEE-16A7-F388-7724FF19791E}"/>
              </a:ext>
            </a:extLst>
          </p:cNvPr>
          <p:cNvSpPr txBox="1"/>
          <p:nvPr/>
        </p:nvSpPr>
        <p:spPr>
          <a:xfrm>
            <a:off x="6764592" y="4504075"/>
            <a:ext cx="486696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Extend to Boost/Buck-Boost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Improve efficiency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/>
              <a:t>Advanced controllers (PID, adaptive)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98C5C1-F4E5-3304-2BB4-DA710BF864A2}"/>
              </a:ext>
            </a:extLst>
          </p:cNvPr>
          <p:cNvSpPr txBox="1"/>
          <p:nvPr/>
        </p:nvSpPr>
        <p:spPr>
          <a:xfrm>
            <a:off x="6622027" y="469231"/>
            <a:ext cx="4277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u="sng" dirty="0"/>
              <a:t>Conclusion</a:t>
            </a:r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C200CE-EA36-F5DF-99F0-A0410524F2A9}"/>
              </a:ext>
            </a:extLst>
          </p:cNvPr>
          <p:cNvSpPr txBox="1"/>
          <p:nvPr/>
        </p:nvSpPr>
        <p:spPr>
          <a:xfrm>
            <a:off x="6543369" y="3888961"/>
            <a:ext cx="4277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u="sng" dirty="0"/>
              <a:t>Future Scope </a:t>
            </a:r>
            <a:endParaRPr lang="en-IN" sz="24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19938C-58A4-5272-29A3-AAE5F06E4B9C}"/>
              </a:ext>
            </a:extLst>
          </p:cNvPr>
          <p:cNvCxnSpPr/>
          <p:nvPr/>
        </p:nvCxnSpPr>
        <p:spPr>
          <a:xfrm>
            <a:off x="6174658" y="0"/>
            <a:ext cx="78658" cy="629264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065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624840" y="768985"/>
          <a:ext cx="10950575" cy="5428615"/>
        </p:xfrm>
        <a:graphic>
          <a:graphicData uri="http://schemas.openxmlformats.org/drawingml/2006/table">
            <a:tbl>
              <a:tblPr/>
              <a:tblGrid>
                <a:gridCol w="2855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4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8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u="sng"/>
                        <a:t>Author(s) &amp; Year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u="sng"/>
                        <a:t>Work Done in Paper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u="sng"/>
                        <a:t>Relevance to My Project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260">
                <a:tc>
                  <a:txBody>
                    <a:bodyPr/>
                    <a:lstStyle/>
                    <a:p>
                      <a:r>
                        <a:rPr lang="en-US" altLang="zh-CN" sz="1600"/>
                        <a:t>Ramos, Hernández &amp; Trujillo (2017)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Performed HIL functional tests for Buck, Boost, and Buck-Boost converters to validate control strategies.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Directly matches my work since I am simulating and testing multiple DC–DC converter topologies in HIL.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r>
                        <a:rPr lang="en-US" altLang="zh-CN" sz="1600"/>
                        <a:t>Cervantes, Ramírez, Téllez-Anguiano et al. (2020)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Designed an HIL scheme for DC–DC converters using LabVIEW FPGA for real-time testing.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Very relevant since my project also uses LabVIEW FPGA + ZedBoard for implementing converter HIL.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r>
                        <a:rPr lang="en-US" altLang="zh-CN" sz="1600"/>
                        <a:t>Washington &amp; Delgado (2008)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Discussed how HIL simulation improves design efficiency and testing capability in embedded systems.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Provides strong justification of why HIL is important — efficiency, cost, and safer prototyping.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lang="en-US" altLang="zh-CN" sz="1600"/>
                        <a:t>Robert, Monthéard, Combet &amp; Gavelle (2022)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Developed HIL simulation of a high-frequency interleaved converter using a low-cost FPGA platform.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Shows how low-cost FPGA boards can be used instead of expensive HIL systems — same goal as mine.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8990">
                <a:tc>
                  <a:txBody>
                    <a:bodyPr/>
                    <a:lstStyle/>
                    <a:p>
                      <a:r>
                        <a:rPr lang="en-US" altLang="zh-CN" sz="1600"/>
                        <a:t>Pintilie, Hedeşiu, Rusu et al. (2023)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Implemented FPGA-based real-time simulation of a Flyback converter using graphical programming tools.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Supports my inclusion of Flyback topology in converter models and highlights FPGA + graphical tools.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lang="en-US" altLang="zh-CN" sz="1600"/>
                        <a:t>Ould-Bachir, Blanchette &amp; Al-Haddad (2015)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Proposed a network tearing technique for FPGA-based real-time simulation of power converters.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Gives advanced FPGA modeling methods that can improve accuracy of my HIL converter models.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3143885" y="155575"/>
            <a:ext cx="5300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400" b="1"/>
              <a:t>Literature Survey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7748270" y="880110"/>
            <a:ext cx="0" cy="5325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370580" y="870585"/>
            <a:ext cx="25400" cy="53270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670" y="709295"/>
            <a:ext cx="9600565" cy="767715"/>
          </a:xfrm>
        </p:spPr>
        <p:txBody>
          <a:bodyPr/>
          <a:lstStyle/>
          <a:p>
            <a:r>
              <a:rPr lang="en-US" altLang="en-GB" sz="2400" b="1">
                <a:solidFill>
                  <a:srgbClr val="C00000"/>
                </a:solidFill>
                <a:sym typeface="+mn-ea"/>
              </a:rPr>
              <a:t>References : 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94995" y="1946275"/>
            <a:ext cx="1100137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dirty="0">
                <a:sym typeface="+mn-ea"/>
              </a:rPr>
              <a:t>[1] G. A. Ramos, M. E. Hern</a:t>
            </a:r>
            <a:r>
              <a:rPr lang="en-US" altLang="en-US" dirty="0">
                <a:sym typeface="+mn-ea"/>
              </a:rPr>
              <a:t>á</a:t>
            </a:r>
            <a:r>
              <a:rPr lang="en-US" altLang="en-GB" dirty="0">
                <a:sym typeface="+mn-ea"/>
              </a:rPr>
              <a:t>ndez and M. D. Trujillo, "Function test by HIL for DC-DC converters type: Buck, boost and buck-boost," 2017 IEEE Workshop on Power Electronics and Power Quality Applications (PEPQA), Bogota, Colombia, 2017, pp. 1-6, </a:t>
            </a:r>
            <a:r>
              <a:rPr lang="en-US" altLang="en-GB" dirty="0" err="1">
                <a:sym typeface="+mn-ea"/>
              </a:rPr>
              <a:t>doi</a:t>
            </a:r>
            <a:r>
              <a:rPr lang="en-US" altLang="en-GB" dirty="0">
                <a:sym typeface="+mn-ea"/>
              </a:rPr>
              <a:t>: 10.1109/PEPQA.2017.7981647. {</a:t>
            </a:r>
            <a:r>
              <a:rPr lang="en-US" altLang="en-GB" dirty="0">
                <a:sym typeface="+mn-ea"/>
                <a:hlinkClick r:id="rId2" action="ppaction://hlinkfile"/>
              </a:rPr>
              <a:t>URL</a:t>
            </a:r>
            <a:r>
              <a:rPr lang="en-US" altLang="en-GB" dirty="0">
                <a:sym typeface="+mn-ea"/>
              </a:rPr>
              <a:t>}</a:t>
            </a:r>
            <a:br>
              <a:rPr lang="en-US" altLang="en-GB" dirty="0">
                <a:sym typeface="+mn-ea"/>
              </a:rPr>
            </a:br>
            <a:endParaRPr lang="en-US" altLang="en-GB" dirty="0"/>
          </a:p>
          <a:p>
            <a:r>
              <a:rPr lang="en-US" altLang="en-GB" dirty="0">
                <a:sym typeface="+mn-ea"/>
              </a:rPr>
              <a:t>[2] M. H. Cervantes, M. C. G. Ram</a:t>
            </a:r>
            <a:r>
              <a:rPr lang="en-US" altLang="en-US" dirty="0">
                <a:sym typeface="+mn-ea"/>
              </a:rPr>
              <a:t>í</a:t>
            </a:r>
            <a:r>
              <a:rPr lang="en-US" altLang="en-GB" dirty="0">
                <a:sym typeface="+mn-ea"/>
              </a:rPr>
              <a:t>rez, A. C. T</a:t>
            </a:r>
            <a:r>
              <a:rPr lang="en-US" altLang="en-US" dirty="0">
                <a:sym typeface="+mn-ea"/>
              </a:rPr>
              <a:t>é</a:t>
            </a:r>
            <a:r>
              <a:rPr lang="en-US" altLang="en-GB" dirty="0">
                <a:sym typeface="+mn-ea"/>
              </a:rPr>
              <a:t>llez-Anguiano, F. M. C</a:t>
            </a:r>
            <a:r>
              <a:rPr lang="en-US" altLang="en-US" dirty="0">
                <a:sym typeface="+mn-ea"/>
              </a:rPr>
              <a:t>á</a:t>
            </a:r>
            <a:r>
              <a:rPr lang="en-US" altLang="en-GB" dirty="0">
                <a:sym typeface="+mn-ea"/>
              </a:rPr>
              <a:t>rdenas, J. C. G</a:t>
            </a:r>
            <a:r>
              <a:rPr lang="en-US" altLang="en-US" dirty="0">
                <a:sym typeface="+mn-ea"/>
              </a:rPr>
              <a:t>ó</a:t>
            </a:r>
            <a:r>
              <a:rPr lang="en-US" altLang="en-GB" dirty="0">
                <a:sym typeface="+mn-ea"/>
              </a:rPr>
              <a:t>mez and A. M. Pati</a:t>
            </a:r>
            <a:r>
              <a:rPr lang="en-US" altLang="en-US" dirty="0">
                <a:sym typeface="+mn-ea"/>
              </a:rPr>
              <a:t>ñ</a:t>
            </a:r>
            <a:r>
              <a:rPr lang="en-US" altLang="en-GB" dirty="0">
                <a:sym typeface="+mn-ea"/>
              </a:rPr>
              <a:t>o, "Design of a Hardware in the Loop scheme in DC-DC converters using LabVIEW FPGA," 2020 IEEE International Autumn Meeting on Power, Electronics and Computing (ROPEC), Ixtapa, Mexico, 2020, pp. 1-6, </a:t>
            </a:r>
            <a:r>
              <a:rPr lang="en-US" altLang="en-GB" dirty="0" err="1">
                <a:sym typeface="+mn-ea"/>
              </a:rPr>
              <a:t>doi</a:t>
            </a:r>
            <a:r>
              <a:rPr lang="en-US" altLang="en-GB" dirty="0">
                <a:sym typeface="+mn-ea"/>
              </a:rPr>
              <a:t>: 10.1109/ROPEC50909.2020.9258691. {</a:t>
            </a:r>
            <a:r>
              <a:rPr lang="en-US" altLang="en-GB" dirty="0">
                <a:sym typeface="+mn-ea"/>
                <a:hlinkClick r:id="rId3" action="ppaction://hlinkfile"/>
              </a:rPr>
              <a:t>URL</a:t>
            </a:r>
            <a:r>
              <a:rPr lang="en-US" altLang="en-GB" dirty="0">
                <a:sym typeface="+mn-ea"/>
              </a:rPr>
              <a:t>}</a:t>
            </a:r>
            <a:br>
              <a:rPr lang="en-US" altLang="en-GB" dirty="0">
                <a:sym typeface="+mn-ea"/>
              </a:rPr>
            </a:br>
            <a:endParaRPr lang="en-US" altLang="en-GB" dirty="0">
              <a:sym typeface="+mn-ea"/>
            </a:endParaRPr>
          </a:p>
          <a:p>
            <a:r>
              <a:rPr lang="en-US" altLang="en-GB" dirty="0">
                <a:sym typeface="+mn-ea"/>
              </a:rPr>
              <a:t>[3] </a:t>
            </a:r>
            <a:r>
              <a:rPr lang="en-US" altLang="en-GB" dirty="0"/>
              <a:t>C. Washington and S. Delgado, "Improve design efficiency and test capabilities with HIL Simulation," 2008 IEEE AUTOTESTCON, Salt Lake City, UT, USA, 2008, pp. 593-594, </a:t>
            </a:r>
            <a:r>
              <a:rPr lang="en-US" altLang="en-GB" dirty="0" err="1"/>
              <a:t>doi</a:t>
            </a:r>
            <a:r>
              <a:rPr lang="en-US" altLang="en-GB" dirty="0"/>
              <a:t>: 10.1109/AUTEST.2008.4662686.{</a:t>
            </a:r>
            <a:r>
              <a:rPr lang="en-US" altLang="en-GB" dirty="0">
                <a:hlinkClick r:id="rId4" action="ppaction://hlinkfile"/>
              </a:rPr>
              <a:t>URL</a:t>
            </a:r>
            <a:r>
              <a:rPr lang="en-US" altLang="en-GB" dirty="0"/>
              <a:t>}</a:t>
            </a:r>
            <a:br>
              <a:rPr lang="en-US" altLang="en-GB" dirty="0"/>
            </a:br>
            <a:endParaRPr lang="en-GB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633730" y="985520"/>
            <a:ext cx="1094295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>
                <a:sym typeface="+mn-ea"/>
              </a:rPr>
              <a:t>[4] T. Robert, R. Month</a:t>
            </a:r>
            <a:r>
              <a:rPr lang="en-US" altLang="en-US">
                <a:sym typeface="+mn-ea"/>
              </a:rPr>
              <a:t>é</a:t>
            </a:r>
            <a:r>
              <a:rPr lang="en-US" altLang="en-GB">
                <a:sym typeface="+mn-ea"/>
              </a:rPr>
              <a:t>ard, V. Combet and M. Gavelle, "Hardware-In-the-Loop Simulation of a High Frequency Interleaved Converter based on a Low-Cost FPGA Platform," IECON 2022 – 48th Annual Conference of the IEEE Industrial Electronics Society, Brussels, Belgium, 2022, pp. 1-6, doi: 10.1109/IECON49645.2022.9968950 {</a:t>
            </a:r>
            <a:r>
              <a:rPr lang="en-US" altLang="en-GB">
                <a:sym typeface="+mn-ea"/>
                <a:hlinkClick r:id="rId2" action="ppaction://hlinkfile"/>
              </a:rPr>
              <a:t>URL</a:t>
            </a:r>
            <a:r>
              <a:rPr lang="en-US" altLang="en-GB">
                <a:sym typeface="+mn-ea"/>
              </a:rPr>
              <a:t>}.</a:t>
            </a:r>
            <a:br>
              <a:rPr lang="en-US" altLang="en-GB">
                <a:sym typeface="+mn-ea"/>
              </a:rPr>
            </a:br>
            <a:endParaRPr lang="en-US" altLang="en-GB"/>
          </a:p>
          <a:p>
            <a:r>
              <a:rPr lang="en-US" altLang="en-GB">
                <a:sym typeface="+mn-ea"/>
              </a:rPr>
              <a:t>[5] L. -N. Pintilie, H. -C. Hede</a:t>
            </a:r>
            <a:r>
              <a:rPr lang="en-US" altLang="en-US">
                <a:sym typeface="+mn-ea"/>
              </a:rPr>
              <a:t>ş</a:t>
            </a:r>
            <a:r>
              <a:rPr lang="en-US" altLang="en-GB">
                <a:sym typeface="+mn-ea"/>
              </a:rPr>
              <a:t>iu, C. -G. Rusu, I. -C. Gros, V. -M. Suciu and A. -M. P</a:t>
            </a:r>
            <a:r>
              <a:rPr lang="en-US" altLang="en-US">
                <a:sym typeface="+mn-ea"/>
              </a:rPr>
              <a:t>ă</a:t>
            </a:r>
            <a:r>
              <a:rPr lang="en-US" altLang="en-GB">
                <a:sym typeface="+mn-ea"/>
              </a:rPr>
              <a:t>curaru, "FPGA based Real-Time simulation of FlyBack converter using graphical programming tools," 2023 10th International Conference on Modern Power Systems (MPS), Cluj-Napoca, Romania, 2023, pp. 01-08, doi: 10.1109/MPS58874.2023.10187573.{</a:t>
            </a:r>
            <a:r>
              <a:rPr lang="en-US" altLang="en-GB">
                <a:sym typeface="+mn-ea"/>
                <a:hlinkClick r:id="rId3" action="ppaction://hlinkfile"/>
              </a:rPr>
              <a:t>URL</a:t>
            </a:r>
            <a:r>
              <a:rPr lang="en-US" altLang="en-GB">
                <a:sym typeface="+mn-ea"/>
              </a:rPr>
              <a:t>}</a:t>
            </a:r>
            <a:br>
              <a:rPr lang="en-US" altLang="en-GB">
                <a:sym typeface="+mn-ea"/>
              </a:rPr>
            </a:br>
            <a:endParaRPr lang="en-US" altLang="en-GB"/>
          </a:p>
          <a:p>
            <a:r>
              <a:rPr lang="en-US" altLang="en-GB">
                <a:sym typeface="+mn-ea"/>
              </a:rPr>
              <a:t>[6] T. Ould-Bachir, H. F. Blanchette and K. Al-Haddad, "A Network Tearing Technique for FPGA-Based Real-Time Simulation of Power Converters," in IEEE Transactions on Industrial Electronics, vol. 62, no. 6, pp. 3409-3418, June 2015, doi: 10.1109/TIE.2014.2365752. {</a:t>
            </a:r>
            <a:r>
              <a:rPr lang="en-US" altLang="en-GB">
                <a:sym typeface="+mn-ea"/>
                <a:hlinkClick r:id="rId4" action="ppaction://hlinkfile"/>
              </a:rPr>
              <a:t>URL</a:t>
            </a:r>
            <a:r>
              <a:rPr lang="en-US" altLang="en-GB">
                <a:sym typeface="+mn-ea"/>
              </a:rPr>
              <a:t>}</a:t>
            </a:r>
            <a:endParaRPr lang="en-US" altLang="en-GB"/>
          </a:p>
          <a:p>
            <a:endParaRPr lang="en-GB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621155" y="2003425"/>
            <a:ext cx="851725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7200"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br>
              <a:rPr lang="en-US" altLang="en-GB" sz="720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GB" sz="2800">
                <a:latin typeface="Times New Roman" panose="02020603050405020304" charset="0"/>
                <a:cs typeface="Times New Roman" panose="02020603050405020304" charset="0"/>
              </a:rPr>
              <a:t>For Your Attention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62*427"/>
  <p:tag name="TABLE_ENDDRAG_RECT" val="49*60*862*42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295</TotalTime>
  <Words>1689</Words>
  <Application>Microsoft Office PowerPoint</Application>
  <PresentationFormat>Widescreen</PresentationFormat>
  <Paragraphs>180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Symbol</vt:lpstr>
      <vt:lpstr>Times New Roman</vt:lpstr>
      <vt:lpstr>Wingdings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 :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Your Project</dc:title>
  <dc:creator>IIITDM</dc:creator>
  <cp:lastModifiedBy>Krishna Teja Regintala</cp:lastModifiedBy>
  <cp:revision>108</cp:revision>
  <dcterms:created xsi:type="dcterms:W3CDTF">2020-01-03T04:38:00Z</dcterms:created>
  <dcterms:modified xsi:type="dcterms:W3CDTF">2026-04-16T02:07:57Z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ampaignTags">
    <vt:lpwstr/>
  </property>
  <property fmtid="{D5CDD505-2E9C-101B-9397-08002B2CF9AE}" pid="4" name="ContentTypeId">
    <vt:lpwstr>0x010100AA3F7D94069FF64A86F7DFF56D60E3BE</vt:lpwstr>
  </property>
  <property fmtid="{D5CDD505-2E9C-101B-9397-08002B2CF9AE}" pid="5" name="FeatureTags">
    <vt:lpwstr/>
  </property>
  <property fmtid="{D5CDD505-2E9C-101B-9397-08002B2CF9AE}" pid="6" name="HiddenSlides">
    <vt:i4>0</vt:i4>
  </property>
  <property fmtid="{D5CDD505-2E9C-101B-9397-08002B2CF9AE}" pid="7" name="HyperlinksChanged">
    <vt:bool>false</vt:bool>
  </property>
  <property fmtid="{D5CDD505-2E9C-101B-9397-08002B2CF9AE}" pid="8" name="InternalTags">
    <vt:lpwstr/>
  </property>
  <property fmtid="{D5CDD505-2E9C-101B-9397-08002B2CF9AE}" pid="9" name="LinksUpToDate">
    <vt:bool>false</vt:bool>
  </property>
  <property fmtid="{D5CDD505-2E9C-101B-9397-08002B2CF9AE}" pid="10" name="LocalizationTags">
    <vt:lpwstr/>
  </property>
  <property fmtid="{D5CDD505-2E9C-101B-9397-08002B2CF9AE}" pid="11" name="MMClips">
    <vt:i4>0</vt:i4>
  </property>
  <property fmtid="{D5CDD505-2E9C-101B-9397-08002B2CF9AE}" pid="12" name="Notes">
    <vt:i4>1</vt:i4>
  </property>
  <property fmtid="{D5CDD505-2E9C-101B-9397-08002B2CF9AE}" pid="13" name="PresentationFormat">
    <vt:lpwstr>Widescreen</vt:lpwstr>
  </property>
  <property fmtid="{D5CDD505-2E9C-101B-9397-08002B2CF9AE}" pid="14" name="ScaleCrop">
    <vt:bool>false</vt:bool>
  </property>
  <property fmtid="{D5CDD505-2E9C-101B-9397-08002B2CF9AE}" pid="15" name="ScenarioTags">
    <vt:lpwstr/>
  </property>
  <property fmtid="{D5CDD505-2E9C-101B-9397-08002B2CF9AE}" pid="16" name="ShareDoc">
    <vt:bool>false</vt:bool>
  </property>
  <property fmtid="{D5CDD505-2E9C-101B-9397-08002B2CF9AE}" pid="17" name="Slides">
    <vt:i4>16</vt:i4>
  </property>
  <property fmtid="{D5CDD505-2E9C-101B-9397-08002B2CF9AE}" pid="18" name="ICV">
    <vt:lpwstr>BE7CC97BB9B741DDB5D9F4A175313991_13</vt:lpwstr>
  </property>
  <property fmtid="{D5CDD505-2E9C-101B-9397-08002B2CF9AE}" pid="19" name="KSOProductBuildVer">
    <vt:lpwstr>2057-12.2.0.23149</vt:lpwstr>
  </property>
</Properties>
</file>